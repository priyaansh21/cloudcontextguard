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274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cold, no preamble. Read the headline slowly, then pause: 'What if a valid cloud credential should still be denied?' Let it sit for two seconds before continuing. Introduce yourselves and the project name: CloudContextGuard, a context-aware cloud access control system built around IAM and trusted VPC boundaries. State plainly this is a working system you built and tested, not a concept slide -- everything shown today is a real, reproducible response from a running API. Transition: 'To understand why that question matters, look at how cloud access control normally works.'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conventional model in one breath: a credential that is valid grants access, full stop -- regardless of where the request came from, whether MFA was used, or how risky it looks. Point at the four-step chain and let the audience watch it end in breach. The line 'IAM alone does not understand context' is the thesis statement of the entire talk -- say it deliberately. Transition: 'So we asked a simple research question.'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 the question and hold it -- don't answer immediately. This is the pivot from problem to solution. Then reveal the five inputs one at a time as you name them: identity, network, MFA, policy, risk. Emphasize 'independent' -- none of these five can be skipped, and no single one is authoritative by itself. Transition: 'This is exactly what CloudContextGuard implements.'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five engines as they physically exist in the codebase -- IAM, VPC, MFA, Policy, Risk -- each a pure function producing a structured result, not a bare boolean. Trace the converging lines with your hand: all five feed one place, the Decision Engine, which is the only component in the system allowed to output ALLOW or DENY. Land on the tagline: 'IAM permission is necessary, but not sufficient' -- this is the project's core research claim. Transition: 'Here is where that lives in the running system.'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actual request path top to bottom: the React dashboard never computes a decision, it only renders API responses. FastAPI is the single HTTP boundary. The Access Service resolves the database and calls every engine in a fixed order. All four engines are pure functions with no knowledge of each other. Only the Decision Engine combines their results into ALLOW or DENY, which is persisted to SQLite, and, on deny or high risk, mirrored into Security Events and Alerts. Transition: 'Let's watch a single request travel this exact path.'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single slide should explain the whole mechanism in about ten seconds: a request enters on the left, and passes through IAM, VPC, MFA, Policy and Risk in that order, arriving at a Decision. Here every gate passes, so the outcome is ALLOW -- this is the baseline, happy-path case. Tell the audience to remember this shape, because the next few slides are about what happens when one of these gates fails even though IAM did not. Transition: 'First, look closely at how the Risk gate actually computes its number.'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risk score is not a black box -- it's a simple additive sum of named, documented factors, capped at 100. Point at a couple of factors: external network is worth 40, missing MFA is worth 30, and they stack. Then show the four risk bands on the right: zero to twenty-nine is LOW, all the way to eighty-plus is CRITICAL. This determinism is deliberate -- every score the system produces can be explained back to the exact rules that fired. Transition: 'Now watch all of this happen to one real, valid identity.'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climax of the talk -- slow down here. contractor01 is a real, seeded identity with a genuine ContractorRole permission for GetObject on financial-records; this is not a broken or misconfigured account. Say clearly: IAM PASS. Pause for a full second and let that register -- a real, valid permission just succeeded. Then reveal the rest: the request came from an external network, so VPC FAILS; MFA was not provided, so MFA FAILS; and the risk engine independently scored this CRITICAL at 100. Point to the screenshot and note this is the live API response, request number 2, not a slide mockup. Land on: FINAL DECISION: DENIED. This is the project's single most important, empirically reproduced finding. Transition: 'This is why the comparison with conventional IAM matters.'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the two models side by side with no adjectives -- let the structure speak. On the left, conventional IAM: a credential implies a permission implies access, one gate only. On the right, what CloudContextGuard actually implements: five independent inputs converging on one decision, where any single failure is sufficient to deny, regardless of the other four. This is a structural difference, not a marketing claim. Transition: 'This isn't just a diagram -- here is the actual attack simulation lab that exercises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Attack Simulator is a real client of the API -- it defines only request inputs (user, action, resource, network, MFA); it never stores or fakes an expected outcome. Every scenario submits a genuine POST to /api/access/request and renders whatever comes back, then independently confirms a security event or alert was actually created by querying those endpoints. Point to the six scenarios and their threat levels -- these mirror the seven documented threats almost one-to-one. Transition: 'One of these controls -- the VPC boundary -- is also the one an administrator can change live. Let's do that now.'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policy is not hardcoded -- it's a database row an administrator edits live through the Policy Management page. Watch: the trusted VPC on financial-records-policy changes from vpc-finance to vpc-development, with no source code change and no application restart. Submit the exact same request -- same identity, same resource, same action -- now from vpc-development. IAM still passes, and now VPC passes too, because the access service reads the Policy table fresh on every evaluation. Risk still lands at 40, MEDIUM, from the resource's own CONFIDENTIAL classification -- but that's below the deny threshold, so the final decision is genuinely ALLOW. Transition: 'Now watch the administrator put the boundary 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Reverse the exact same edit -- trusted VPC back to vpc-finance -- through the same Policy Management page. Resubmit the original external request, unmodified. VPC fails again, exactly as it did before any policy was ever touched, and the decision returns to DENY. This matters because it demonstrates the mechanism is bidirectional and safe: an administrator can tune a boundary live, and the system can be returned to its original, secure configuration by the same mechanism, without ever touching a deployment. Transition: 'None of this would mean anything if the client could influence it -- so here is what's actually hardened server-side.'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dedicated hardening pass independently verified each of these ten properties against the real, running API -- not in theory. Two are worth calling out explicitly: server authority means a client can send a decision field or a risk_score in its request body, and the server silently ignores it and recomputes everything itself; and mass-assignment resistance means the same is true of a policy update -- fields like id or updated_at are not even part of the accepted schema. Transition: 'All of this runs on a very small, very ordinary stack.'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one of these nine screens is a real, working page against the live API -- not mockups. Dashboard aggregates counts across every table; Access Requests, IAM, VPC Security, Storage, Policies and Security Events are full CRUD or read views over the actual database; Alerts shows every record raised by a denied or high-risk request; and the Attack Simulator drives the same access-request endpoint everything else does. Nothing here is a separate demo path. Transition: 'Underneath all nine screens is one schema.'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schema is deliberately small and relational, not exotic. CATALOG holds the static facts an authorization decision reasons over -- identities, roles, permissions, resources, trusted VPCs and the policies that bind them. AUDIT holds what actually happened: every access request with its full evaluation trail, every security event, and every alert. SCHEMA is a single version row that makes an incompatible on-disk database fail loudly at startup rather than silently corrupt data. All foreign keys are enforced, and the earlier hardening pass verified zero orphaned rows across the entire audit trail. Transition: 'None of this is a demo we ran once -- it's an 82-test suite that runs every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these numbers are aspirational. Eighty-two backend tests across five suites -- health, access control, policy management, database safety, and a dedicated 41-test security validation pass -- all currently pass. Seventeen portability checks confirm the project has no hardcoded machine-specific paths and correctly detects its own root regardless of working directory or where the folder is moved. The frontend production build completes cleanly under Vite. Anyone can reproduce every one of these by running the commands shown. Transition: 'So what happens when the system is deliberately attacked?'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threats are documented end-to-end in THREAT_MODEL.md, each with an exact attack condition, the control that catches it, how it's detected in code, and the verified response. Six resolve to DENY. The seventh, T7 -- an administrator enabling external access on a CONFIDENTIAL or RESTRICTED resource -- is intentionally different: rather than inventing an automatic denial that isn't backed by the decision engine's real rules, the system surfaces a visible warning on the Policies page and lets the documented decision logic govern the next actual request. That distinction matters -- it's honest about what the system does and does not enforce automatically. Transition: 'None of this means the system has no boundaries.'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would be easy to let a pitch imply more than what was built -- we're doing the opposite. This is a local simulation with no real AWS account, no real credentials, and no production infrastructure anywhere. The risk engine is transparent and rule-based, not machine learning. The database is SQLite. None of this diminishes the finding -- the authorization logic itself, and the proof that a valid IAM permission is not sufficient, would evaluate identically inside a real AWS environment. It just means we're telling you exactly where the prototype ends. Transition: 'And exactly where it would go next.'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roadmap is deliberately ordered -- it starts by connecting the exact same decision engine you just saw to real AWS IAM, then real network context through VPC endpoints and real S3 policies, then real CloudTrail telemetry instead of simulated events. Identity-provider integration and policy-as-code come next, and machine-learning risk scoring is explicitly positioned as a complement to the current rule-based engine, not a replacement for its transparency. Transition: 'But none of that changes what's already true today.'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on the screen. The entire project, in one sentence: a permission check tells you what an identity is allowed to do; it says nothing about the network it's coming from, whether it proved who it is, or what the resource's own policy allows in this moment. CloudContextGuard evaluates all of that together, server-side, and it's fully reproducible -- 82 tests, 17 portability checks, and a live system you can run right now. Thank you. Happy to take questions or walk through any part of the pipeline again live.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jpg"/><Relationship Id="rId11" Type="http://schemas.openxmlformats.org/officeDocument/2006/relationships/image" Target="../media/image2.jpg"/><Relationship Id="rId5" Type="http://schemas.openxmlformats.org/officeDocument/2006/relationships/image" Target="../media/image8.jpg"/><Relationship Id="rId10" Type="http://schemas.openxmlformats.org/officeDocument/2006/relationships/image" Target="../media/image13.jpg"/><Relationship Id="rId4" Type="http://schemas.openxmlformats.org/officeDocument/2006/relationships/image" Target="../media/image7.jpg"/><Relationship Id="rId9" Type="http://schemas.openxmlformats.org/officeDocument/2006/relationships/image" Target="../media/image12.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920239" y="-731519"/>
            <a:ext cx="8229600" cy="8229600"/>
          </a:xfrm>
          <a:prstGeom prst="ellipse">
            <a:avLst/>
          </a:prstGeom>
          <a:solidFill>
            <a:srgbClr val="3B82F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051560"/>
            <a:ext cx="9144000" cy="320040"/>
          </a:xfrm>
          <a:prstGeom prst="rect">
            <a:avLst/>
          </a:prstGeom>
          <a:noFill/>
        </p:spPr>
        <p:txBody>
          <a:bodyPr wrap="square" lIns="0" tIns="0" rIns="0" bIns="0" anchor="t">
            <a:spAutoFit/>
          </a:bodyPr>
          <a:lstStyle/>
          <a:p>
            <a:pPr algn="l">
              <a:lnSpc>
                <a:spcPct val="100000"/>
              </a:lnSpc>
            </a:pPr>
            <a:r>
              <a:rPr sz="1300" b="1" i="0">
                <a:solidFill>
                  <a:srgbClr val="A3B1C6"/>
                </a:solidFill>
                <a:latin typeface="Aptos"/>
              </a:rPr>
              <a:t>A CONTEXT-AWARE CLOUD SECURITY RESEARCH PROJECT</a:t>
            </a:r>
          </a:p>
        </p:txBody>
      </p:sp>
      <p:sp>
        <p:nvSpPr>
          <p:cNvPr id="12" name="TextBox 11"/>
          <p:cNvSpPr txBox="1"/>
          <p:nvPr/>
        </p:nvSpPr>
        <p:spPr>
          <a:xfrm>
            <a:off x="822960" y="1691640"/>
            <a:ext cx="10607040" cy="2377440"/>
          </a:xfrm>
          <a:prstGeom prst="rect">
            <a:avLst/>
          </a:prstGeom>
          <a:noFill/>
        </p:spPr>
        <p:txBody>
          <a:bodyPr wrap="square" lIns="0" tIns="0" rIns="0" bIns="0" anchor="t">
            <a:spAutoFit/>
          </a:bodyPr>
          <a:lstStyle/>
          <a:p>
            <a:pPr algn="l">
              <a:lnSpc>
                <a:spcPct val="102000"/>
              </a:lnSpc>
            </a:pPr>
            <a:r>
              <a:rPr sz="5000" b="1" i="0">
                <a:solidFill>
                  <a:srgbClr val="F7FAFC"/>
                </a:solidFill>
                <a:latin typeface="Aptos Display"/>
              </a:rPr>
              <a:t>WHAT IF A VALID</a:t>
            </a:r>
          </a:p>
          <a:p>
            <a:pPr algn="l">
              <a:lnSpc>
                <a:spcPct val="102000"/>
              </a:lnSpc>
            </a:pPr>
            <a:r>
              <a:rPr sz="5000" b="1" i="0">
                <a:solidFill>
                  <a:srgbClr val="F7FAFC"/>
                </a:solidFill>
                <a:latin typeface="Aptos Display"/>
              </a:rPr>
              <a:t>CLOUD CREDENTIAL</a:t>
            </a:r>
          </a:p>
          <a:p>
            <a:pPr algn="l">
              <a:lnSpc>
                <a:spcPct val="102000"/>
              </a:lnSpc>
            </a:pPr>
            <a:r>
              <a:rPr sz="5000" b="1" i="0">
                <a:solidFill>
                  <a:srgbClr val="F7FAFC"/>
                </a:solidFill>
                <a:latin typeface="Aptos Display"/>
              </a:rPr>
              <a:t>SHOULD STILL BE DENIED?</a:t>
            </a:r>
          </a:p>
        </p:txBody>
      </p:sp>
      <p:cxnSp>
        <p:nvCxnSpPr>
          <p:cNvPr id="13" name="Connector 12"/>
          <p:cNvCxnSpPr/>
          <p:nvPr/>
        </p:nvCxnSpPr>
        <p:spPr>
          <a:xfrm>
            <a:off x="841248" y="4160520"/>
            <a:ext cx="2267712" cy="0"/>
          </a:xfrm>
          <a:prstGeom prst="line">
            <a:avLst/>
          </a:prstGeom>
          <a:ln w="25400">
            <a:solidFill>
              <a:srgbClr val="22D3EE">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4434840"/>
            <a:ext cx="7315200" cy="548640"/>
          </a:xfrm>
          <a:prstGeom prst="rect">
            <a:avLst/>
          </a:prstGeom>
          <a:noFill/>
        </p:spPr>
        <p:txBody>
          <a:bodyPr wrap="square" lIns="0" tIns="0" rIns="0" bIns="0" anchor="t">
            <a:spAutoFit/>
          </a:bodyPr>
          <a:lstStyle/>
          <a:p>
            <a:pPr algn="l">
              <a:lnSpc>
                <a:spcPct val="100000"/>
              </a:lnSpc>
            </a:pPr>
            <a:r>
              <a:rPr sz="3000" b="1" i="0">
                <a:solidFill>
                  <a:srgbClr val="22D3EE"/>
                </a:solidFill>
                <a:latin typeface="Aptos Display"/>
              </a:rPr>
              <a:t>CloudContextGuard</a:t>
            </a:r>
          </a:p>
        </p:txBody>
      </p:sp>
      <p:sp>
        <p:nvSpPr>
          <p:cNvPr id="15" name="TextBox 14"/>
          <p:cNvSpPr txBox="1"/>
          <p:nvPr/>
        </p:nvSpPr>
        <p:spPr>
          <a:xfrm>
            <a:off x="822960" y="4956048"/>
            <a:ext cx="8686800" cy="457200"/>
          </a:xfrm>
          <a:prstGeom prst="rect">
            <a:avLst/>
          </a:prstGeom>
          <a:noFill/>
        </p:spPr>
        <p:txBody>
          <a:bodyPr wrap="square" lIns="0" tIns="0" rIns="0" bIns="0" anchor="t">
            <a:spAutoFit/>
          </a:bodyPr>
          <a:lstStyle/>
          <a:p>
            <a:pPr algn="l">
              <a:lnSpc>
                <a:spcPct val="100000"/>
              </a:lnSpc>
            </a:pPr>
            <a:r>
              <a:rPr sz="1500" b="0" i="0">
                <a:solidFill>
                  <a:srgbClr val="A3B1C6"/>
                </a:solidFill>
                <a:latin typeface="Aptos"/>
              </a:rPr>
              <a:t>Context-Aware Cloud Access Control Using IAM and Trusted VPC Boundaries</a:t>
            </a:r>
          </a:p>
        </p:txBody>
      </p:sp>
      <p:sp>
        <p:nvSpPr>
          <p:cNvPr id="16" name="TextBox 15"/>
          <p:cNvSpPr txBox="1"/>
          <p:nvPr/>
        </p:nvSpPr>
        <p:spPr>
          <a:xfrm>
            <a:off x="822960" y="5989320"/>
            <a:ext cx="10058400" cy="320040"/>
          </a:xfrm>
          <a:prstGeom prst="rect">
            <a:avLst/>
          </a:prstGeom>
          <a:noFill/>
        </p:spPr>
        <p:txBody>
          <a:bodyPr wrap="square" lIns="0" tIns="0" rIns="0" bIns="0" anchor="t">
            <a:spAutoFit/>
          </a:bodyPr>
          <a:lstStyle/>
          <a:p>
            <a:pPr algn="l">
              <a:lnSpc>
                <a:spcPct val="100000"/>
              </a:lnSpc>
            </a:pPr>
            <a:r>
              <a:rPr sz="1150" b="0" i="0">
                <a:solidFill>
                  <a:srgbClr val="64748B"/>
                </a:solidFill>
                <a:latin typeface="Aptos"/>
              </a:rPr>
              <a:t>Priyaansh Jaiswal  &amp;  Shashank Sunil Hebbal   |   RV University, School of CSE   |   2026-2027</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3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300"/>
                            </p:stCondLst>
                            <p:childTnLst>
                              <p:par>
                                <p:cTn id="13" presetID="22" presetClass="entr" presetSubtype="4" fill="hold" nodeType="afterEffect">
                                  <p:stCondLst>
                                    <p:cond delay="20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par>
                          <p:cTn id="16" fill="hold">
                            <p:stCondLst>
                              <p:cond delay="2000"/>
                            </p:stCondLst>
                            <p:childTnLst>
                              <p:par>
                                <p:cTn id="17" presetID="10" presetClass="entr" presetSubtype="0" fill="hold" grpId="0" nodeType="afterEffect">
                                  <p:stCondLst>
                                    <p:cond delay="15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15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2650"/>
                            </p:stCondLst>
                            <p:childTnLst>
                              <p:par>
                                <p:cTn id="24" presetID="10" presetClass="entr" presetSubtype="0" fill="hold" grpId="0" nodeType="afterEffect">
                                  <p:stCondLst>
                                    <p:cond delay="2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02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PROBLEM</a:t>
            </a:r>
          </a:p>
        </p:txBody>
      </p:sp>
      <p:sp>
        <p:nvSpPr>
          <p:cNvPr id="13" name="TextBox 12"/>
          <p:cNvSpPr txBox="1"/>
          <p:nvPr/>
        </p:nvSpPr>
        <p:spPr>
          <a:xfrm>
            <a:off x="685800" y="960120"/>
            <a:ext cx="10789920" cy="914400"/>
          </a:xfrm>
          <a:prstGeom prst="rect">
            <a:avLst/>
          </a:prstGeom>
          <a:noFill/>
        </p:spPr>
        <p:txBody>
          <a:bodyPr wrap="square" lIns="0" tIns="0" rIns="0" bIns="0" anchor="t">
            <a:spAutoFit/>
          </a:bodyPr>
          <a:lstStyle/>
          <a:p>
            <a:pPr algn="l">
              <a:lnSpc>
                <a:spcPct val="100000"/>
              </a:lnSpc>
            </a:pPr>
            <a:r>
              <a:rPr sz="3000" b="1" i="0">
                <a:solidFill>
                  <a:srgbClr val="F7FAFC"/>
                </a:solidFill>
                <a:latin typeface="Aptos Display"/>
              </a:rPr>
              <a:t>A single valid permission is treated</a:t>
            </a:r>
          </a:p>
          <a:p>
            <a:pPr algn="l">
              <a:lnSpc>
                <a:spcPct val="100000"/>
              </a:lnSpc>
            </a:pPr>
            <a:r>
              <a:rPr sz="3000" b="1" i="0">
                <a:solidFill>
                  <a:srgbClr val="F7FAFC"/>
                </a:solidFill>
                <a:latin typeface="Aptos Display"/>
              </a:rPr>
              <a:t>as proof enough.</a:t>
            </a:r>
          </a:p>
        </p:txBody>
      </p:sp>
      <p:sp>
        <p:nvSpPr>
          <p:cNvPr id="14" name="Rounded Rectangle 13"/>
          <p:cNvSpPr/>
          <p:nvPr/>
        </p:nvSpPr>
        <p:spPr>
          <a:xfrm>
            <a:off x="822960" y="2468880"/>
            <a:ext cx="2331720" cy="1234440"/>
          </a:xfrm>
          <a:prstGeom prst="roundRect">
            <a:avLst>
              <a:gd name="adj" fmla="val 12000"/>
            </a:avLst>
          </a:prstGeom>
          <a:solidFill>
            <a:srgbClr val="0D1524"/>
          </a:solidFill>
          <a:ln w="12700">
            <a:solidFill>
              <a:srgbClr val="4ADE80">
                <a:alpha val="7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ADE80"/>
                </a:solidFill>
                <a:latin typeface="Aptos"/>
              </a:rPr>
              <a:t>VALID IAM
CREDENTIAL</a:t>
            </a:r>
          </a:p>
        </p:txBody>
      </p:sp>
      <p:sp>
        <p:nvSpPr>
          <p:cNvPr id="15" name="Chevron 14"/>
          <p:cNvSpPr/>
          <p:nvPr/>
        </p:nvSpPr>
        <p:spPr>
          <a:xfrm>
            <a:off x="3209544" y="301294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538727" y="2468880"/>
            <a:ext cx="2331720" cy="1234440"/>
          </a:xfrm>
          <a:prstGeom prst="roundRect">
            <a:avLst>
              <a:gd name="adj" fmla="val 12000"/>
            </a:avLst>
          </a:prstGeom>
          <a:solidFill>
            <a:srgbClr val="0D1524"/>
          </a:solidFill>
          <a:ln w="12700">
            <a:solidFill>
              <a:srgbClr val="FBBF24">
                <a:alpha val="7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BBF24"/>
                </a:solidFill>
                <a:latin typeface="Aptos"/>
              </a:rPr>
              <a:t>UNKNOWN
NETWORK</a:t>
            </a:r>
          </a:p>
        </p:txBody>
      </p:sp>
      <p:sp>
        <p:nvSpPr>
          <p:cNvPr id="17" name="Chevron 16"/>
          <p:cNvSpPr/>
          <p:nvPr/>
        </p:nvSpPr>
        <p:spPr>
          <a:xfrm>
            <a:off x="5925312" y="301294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54496" y="2468880"/>
            <a:ext cx="2331720" cy="1234440"/>
          </a:xfrm>
          <a:prstGeom prst="roundRect">
            <a:avLst>
              <a:gd name="adj" fmla="val 12000"/>
            </a:avLst>
          </a:prstGeom>
          <a:solidFill>
            <a:srgbClr val="0D1524"/>
          </a:solidFill>
          <a:ln w="12700">
            <a:solidFill>
              <a:srgbClr val="FBBF24">
                <a:alpha val="7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BBF24"/>
                </a:solidFill>
                <a:latin typeface="Aptos"/>
              </a:rPr>
              <a:t>MISSING
MFA</a:t>
            </a:r>
          </a:p>
        </p:txBody>
      </p:sp>
      <p:sp>
        <p:nvSpPr>
          <p:cNvPr id="19" name="Chevron 18"/>
          <p:cNvSpPr/>
          <p:nvPr/>
        </p:nvSpPr>
        <p:spPr>
          <a:xfrm>
            <a:off x="8641080" y="301294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70264" y="2468880"/>
            <a:ext cx="2331720" cy="1234440"/>
          </a:xfrm>
          <a:prstGeom prst="roundRect">
            <a:avLst>
              <a:gd name="adj" fmla="val 12000"/>
            </a:avLst>
          </a:prstGeom>
          <a:solidFill>
            <a:srgbClr val="0D1524"/>
          </a:solidFill>
          <a:ln w="12700">
            <a:solidFill>
              <a:srgbClr val="F87171">
                <a:alpha val="7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87171"/>
                </a:solidFill>
                <a:latin typeface="Aptos"/>
              </a:rPr>
              <a:t>POTENTIAL
BREACH</a:t>
            </a:r>
          </a:p>
        </p:txBody>
      </p:sp>
      <p:sp>
        <p:nvSpPr>
          <p:cNvPr id="21" name="Rounded Rectangle 20"/>
          <p:cNvSpPr/>
          <p:nvPr/>
        </p:nvSpPr>
        <p:spPr>
          <a:xfrm>
            <a:off x="822960" y="4343400"/>
            <a:ext cx="10561320" cy="822960"/>
          </a:xfrm>
          <a:prstGeom prst="roundRect">
            <a:avLst>
              <a:gd name="adj" fmla="val 10000"/>
            </a:avLst>
          </a:prstGeom>
          <a:solidFill>
            <a:srgbClr val="0D1524">
              <a:alpha val="60000"/>
            </a:srgbClr>
          </a:solidFill>
          <a:ln w="12700">
            <a:solidFill>
              <a:srgbClr val="243550">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4526280"/>
            <a:ext cx="10058400" cy="502920"/>
          </a:xfrm>
          <a:prstGeom prst="rect">
            <a:avLst/>
          </a:prstGeom>
          <a:noFill/>
        </p:spPr>
        <p:txBody>
          <a:bodyPr wrap="square" lIns="0" tIns="0" rIns="0" bIns="0" anchor="t">
            <a:spAutoFit/>
          </a:bodyPr>
          <a:lstStyle/>
          <a:p>
            <a:pPr algn="l">
              <a:lnSpc>
                <a:spcPct val="100000"/>
              </a:lnSpc>
            </a:pPr>
            <a:r>
              <a:rPr sz="2000" b="1" i="1">
                <a:solidFill>
                  <a:srgbClr val="22D3EE"/>
                </a:solidFill>
                <a:latin typeface="Aptos Display"/>
              </a:rPr>
              <a:t>“IAM alone does not understand context.”</a:t>
            </a:r>
          </a:p>
        </p:txBody>
      </p:sp>
      <p:sp>
        <p:nvSpPr>
          <p:cNvPr id="23" name="TextBox 22"/>
          <p:cNvSpPr txBox="1"/>
          <p:nvPr/>
        </p:nvSpPr>
        <p:spPr>
          <a:xfrm>
            <a:off x="822960" y="5486400"/>
            <a:ext cx="10058400" cy="548640"/>
          </a:xfrm>
          <a:prstGeom prst="rect">
            <a:avLst/>
          </a:prstGeom>
          <a:noFill/>
        </p:spPr>
        <p:txBody>
          <a:bodyPr wrap="square" lIns="0" tIns="0" rIns="0" bIns="0" anchor="t">
            <a:spAutoFit/>
          </a:bodyPr>
          <a:lstStyle/>
          <a:p>
            <a:pPr algn="l">
              <a:lnSpc>
                <a:spcPct val="100000"/>
              </a:lnSpc>
            </a:pPr>
            <a:r>
              <a:rPr sz="1350" b="0" i="0">
                <a:solidFill>
                  <a:srgbClr val="A3B1C6"/>
                </a:solidFill>
                <a:latin typeface="Aptos"/>
              </a:rPr>
              <a:t>A stolen credential inherits every permission that identity has -- from any network, with no extra friction.</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03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QUESTION</a:t>
            </a:r>
          </a:p>
        </p:txBody>
      </p:sp>
      <p:sp>
        <p:nvSpPr>
          <p:cNvPr id="13" name="Oval 12"/>
          <p:cNvSpPr/>
          <p:nvPr/>
        </p:nvSpPr>
        <p:spPr>
          <a:xfrm>
            <a:off x="2377439" y="-731519"/>
            <a:ext cx="7315200" cy="7315200"/>
          </a:xfrm>
          <a:prstGeom prst="ellipse">
            <a:avLst/>
          </a:prstGeom>
          <a:solidFill>
            <a:srgbClr val="22D3EE">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1737360"/>
            <a:ext cx="10607040" cy="1463040"/>
          </a:xfrm>
          <a:prstGeom prst="rect">
            <a:avLst/>
          </a:prstGeom>
          <a:noFill/>
        </p:spPr>
        <p:txBody>
          <a:bodyPr wrap="square" lIns="0" tIns="0" rIns="0" bIns="0" anchor="t">
            <a:spAutoFit/>
          </a:bodyPr>
          <a:lstStyle/>
          <a:p>
            <a:pPr algn="l">
              <a:lnSpc>
                <a:spcPct val="105000"/>
              </a:lnSpc>
            </a:pPr>
            <a:r>
              <a:rPr sz="3800" b="1" i="0">
                <a:solidFill>
                  <a:srgbClr val="F7FAFC"/>
                </a:solidFill>
                <a:latin typeface="Aptos Display"/>
              </a:rPr>
              <a:t>Can authorization depend</a:t>
            </a:r>
          </a:p>
          <a:p>
            <a:pPr algn="l">
              <a:lnSpc>
                <a:spcPct val="105000"/>
              </a:lnSpc>
            </a:pPr>
            <a:r>
              <a:rPr sz="3800" b="1" i="0">
                <a:solidFill>
                  <a:srgbClr val="F7FAFC"/>
                </a:solidFill>
                <a:latin typeface="Aptos Display"/>
              </a:rPr>
              <a:t>on more than identity?</a:t>
            </a:r>
          </a:p>
        </p:txBody>
      </p:sp>
      <p:sp>
        <p:nvSpPr>
          <p:cNvPr id="15" name="Rounded Rectangle 14"/>
          <p:cNvSpPr/>
          <p:nvPr/>
        </p:nvSpPr>
        <p:spPr>
          <a:xfrm>
            <a:off x="822960" y="4160520"/>
            <a:ext cx="1737360" cy="566928"/>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22D3EE"/>
                </a:solidFill>
                <a:latin typeface="Aptos"/>
              </a:rPr>
              <a:t>IDENTITY</a:t>
            </a:r>
          </a:p>
        </p:txBody>
      </p:sp>
      <p:sp>
        <p:nvSpPr>
          <p:cNvPr id="16" name="TextBox 15"/>
          <p:cNvSpPr txBox="1"/>
          <p:nvPr/>
        </p:nvSpPr>
        <p:spPr>
          <a:xfrm>
            <a:off x="2633472" y="4261104"/>
            <a:ext cx="320040" cy="365760"/>
          </a:xfrm>
          <a:prstGeom prst="rect">
            <a:avLst/>
          </a:prstGeom>
          <a:noFill/>
        </p:spPr>
        <p:txBody>
          <a:bodyPr wrap="square" lIns="0" tIns="0" rIns="0" bIns="0" anchor="t">
            <a:spAutoFit/>
          </a:bodyPr>
          <a:lstStyle/>
          <a:p>
            <a:pPr algn="ctr">
              <a:lnSpc>
                <a:spcPct val="100000"/>
              </a:lnSpc>
            </a:pPr>
            <a:r>
              <a:rPr sz="2200" b="1" i="0">
                <a:solidFill>
                  <a:srgbClr val="64748B"/>
                </a:solidFill>
                <a:latin typeface="Aptos"/>
              </a:rPr>
              <a:t>+</a:t>
            </a:r>
          </a:p>
        </p:txBody>
      </p:sp>
      <p:sp>
        <p:nvSpPr>
          <p:cNvPr id="17" name="Rounded Rectangle 16"/>
          <p:cNvSpPr/>
          <p:nvPr/>
        </p:nvSpPr>
        <p:spPr>
          <a:xfrm>
            <a:off x="2907791" y="4160520"/>
            <a:ext cx="1737360" cy="566928"/>
          </a:xfrm>
          <a:prstGeom prst="roundRect">
            <a:avLst>
              <a:gd name="adj" fmla="val 50000"/>
            </a:avLst>
          </a:prstGeom>
          <a:solidFill>
            <a:srgbClr val="3B82F6">
              <a:alpha val="16000"/>
            </a:srgbClr>
          </a:solidFill>
          <a:ln w="12700">
            <a:solidFill>
              <a:srgbClr val="3B82F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3B82F6"/>
                </a:solidFill>
                <a:latin typeface="Aptos"/>
              </a:rPr>
              <a:t>NETWORK</a:t>
            </a:r>
          </a:p>
        </p:txBody>
      </p:sp>
      <p:sp>
        <p:nvSpPr>
          <p:cNvPr id="18" name="TextBox 17"/>
          <p:cNvSpPr txBox="1"/>
          <p:nvPr/>
        </p:nvSpPr>
        <p:spPr>
          <a:xfrm>
            <a:off x="4718304" y="4261104"/>
            <a:ext cx="320040" cy="365760"/>
          </a:xfrm>
          <a:prstGeom prst="rect">
            <a:avLst/>
          </a:prstGeom>
          <a:noFill/>
        </p:spPr>
        <p:txBody>
          <a:bodyPr wrap="square" lIns="0" tIns="0" rIns="0" bIns="0" anchor="t">
            <a:spAutoFit/>
          </a:bodyPr>
          <a:lstStyle/>
          <a:p>
            <a:pPr algn="ctr">
              <a:lnSpc>
                <a:spcPct val="100000"/>
              </a:lnSpc>
            </a:pPr>
            <a:r>
              <a:rPr sz="2200" b="1" i="0">
                <a:solidFill>
                  <a:srgbClr val="64748B"/>
                </a:solidFill>
                <a:latin typeface="Aptos"/>
              </a:rPr>
              <a:t>+</a:t>
            </a:r>
          </a:p>
        </p:txBody>
      </p:sp>
      <p:sp>
        <p:nvSpPr>
          <p:cNvPr id="19" name="Rounded Rectangle 18"/>
          <p:cNvSpPr/>
          <p:nvPr/>
        </p:nvSpPr>
        <p:spPr>
          <a:xfrm>
            <a:off x="4992623" y="4160520"/>
            <a:ext cx="1737360" cy="566928"/>
          </a:xfrm>
          <a:prstGeom prst="roundRect">
            <a:avLst>
              <a:gd name="adj" fmla="val 50000"/>
            </a:avLst>
          </a:prstGeom>
          <a:solidFill>
            <a:srgbClr val="8B5CF6">
              <a:alpha val="16000"/>
            </a:srgbClr>
          </a:solidFill>
          <a:ln w="12700">
            <a:solidFill>
              <a:srgbClr val="8B5CF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8B5CF6"/>
                </a:solidFill>
                <a:latin typeface="Aptos"/>
              </a:rPr>
              <a:t>MFA</a:t>
            </a:r>
          </a:p>
        </p:txBody>
      </p:sp>
      <p:sp>
        <p:nvSpPr>
          <p:cNvPr id="20" name="TextBox 19"/>
          <p:cNvSpPr txBox="1"/>
          <p:nvPr/>
        </p:nvSpPr>
        <p:spPr>
          <a:xfrm>
            <a:off x="6803136" y="4261104"/>
            <a:ext cx="320040" cy="365760"/>
          </a:xfrm>
          <a:prstGeom prst="rect">
            <a:avLst/>
          </a:prstGeom>
          <a:noFill/>
        </p:spPr>
        <p:txBody>
          <a:bodyPr wrap="square" lIns="0" tIns="0" rIns="0" bIns="0" anchor="t">
            <a:spAutoFit/>
          </a:bodyPr>
          <a:lstStyle/>
          <a:p>
            <a:pPr algn="ctr">
              <a:lnSpc>
                <a:spcPct val="100000"/>
              </a:lnSpc>
            </a:pPr>
            <a:r>
              <a:rPr sz="2200" b="1" i="0">
                <a:solidFill>
                  <a:srgbClr val="64748B"/>
                </a:solidFill>
                <a:latin typeface="Aptos"/>
              </a:rPr>
              <a:t>+</a:t>
            </a:r>
          </a:p>
        </p:txBody>
      </p:sp>
      <p:sp>
        <p:nvSpPr>
          <p:cNvPr id="21" name="Rounded Rectangle 20"/>
          <p:cNvSpPr/>
          <p:nvPr/>
        </p:nvSpPr>
        <p:spPr>
          <a:xfrm>
            <a:off x="7077455" y="4160520"/>
            <a:ext cx="1737360" cy="566928"/>
          </a:xfrm>
          <a:prstGeom prst="roundRect">
            <a:avLst>
              <a:gd name="adj" fmla="val 50000"/>
            </a:avLst>
          </a:prstGeom>
          <a:solidFill>
            <a:srgbClr val="06B6D4">
              <a:alpha val="16000"/>
            </a:srgbClr>
          </a:solidFill>
          <a:ln w="12700">
            <a:solidFill>
              <a:srgbClr val="06B6D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06B6D4"/>
                </a:solidFill>
                <a:latin typeface="Aptos"/>
              </a:rPr>
              <a:t>POLICY</a:t>
            </a:r>
          </a:p>
        </p:txBody>
      </p:sp>
      <p:sp>
        <p:nvSpPr>
          <p:cNvPr id="22" name="TextBox 21"/>
          <p:cNvSpPr txBox="1"/>
          <p:nvPr/>
        </p:nvSpPr>
        <p:spPr>
          <a:xfrm>
            <a:off x="8887967" y="4261104"/>
            <a:ext cx="320040" cy="365760"/>
          </a:xfrm>
          <a:prstGeom prst="rect">
            <a:avLst/>
          </a:prstGeom>
          <a:noFill/>
        </p:spPr>
        <p:txBody>
          <a:bodyPr wrap="square" lIns="0" tIns="0" rIns="0" bIns="0" anchor="t">
            <a:spAutoFit/>
          </a:bodyPr>
          <a:lstStyle/>
          <a:p>
            <a:pPr algn="ctr">
              <a:lnSpc>
                <a:spcPct val="100000"/>
              </a:lnSpc>
            </a:pPr>
            <a:r>
              <a:rPr sz="2200" b="1" i="0">
                <a:solidFill>
                  <a:srgbClr val="64748B"/>
                </a:solidFill>
                <a:latin typeface="Aptos"/>
              </a:rPr>
              <a:t>+</a:t>
            </a:r>
          </a:p>
        </p:txBody>
      </p:sp>
      <p:sp>
        <p:nvSpPr>
          <p:cNvPr id="23" name="Rounded Rectangle 22"/>
          <p:cNvSpPr/>
          <p:nvPr/>
        </p:nvSpPr>
        <p:spPr>
          <a:xfrm>
            <a:off x="9162287" y="4160520"/>
            <a:ext cx="1737360" cy="566928"/>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BBF24"/>
                </a:solidFill>
                <a:latin typeface="Aptos"/>
              </a:rPr>
              <a:t>RISK</a:t>
            </a:r>
          </a:p>
        </p:txBody>
      </p:sp>
      <p:sp>
        <p:nvSpPr>
          <p:cNvPr id="24" name="TextBox 23"/>
          <p:cNvSpPr txBox="1"/>
          <p:nvPr/>
        </p:nvSpPr>
        <p:spPr>
          <a:xfrm>
            <a:off x="822960" y="5120640"/>
            <a:ext cx="10058400" cy="457200"/>
          </a:xfrm>
          <a:prstGeom prst="rect">
            <a:avLst/>
          </a:prstGeom>
          <a:noFill/>
        </p:spPr>
        <p:txBody>
          <a:bodyPr wrap="square" lIns="0" tIns="0" rIns="0" bIns="0" anchor="t">
            <a:spAutoFit/>
          </a:bodyPr>
          <a:lstStyle/>
          <a:p>
            <a:pPr algn="l">
              <a:lnSpc>
                <a:spcPct val="100000"/>
              </a:lnSpc>
            </a:pPr>
            <a:r>
              <a:rPr sz="1400" b="0" i="0">
                <a:solidFill>
                  <a:srgbClr val="A3B1C6"/>
                </a:solidFill>
                <a:latin typeface="Aptos"/>
              </a:rPr>
              <a:t>Five independent, explainable checks -- evaluated on every single request.</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04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SOLUTION</a:t>
            </a:r>
          </a:p>
        </p:txBody>
      </p:sp>
      <p:sp>
        <p:nvSpPr>
          <p:cNvPr id="13" name="TextBox 12"/>
          <p:cNvSpPr txBox="1"/>
          <p:nvPr/>
        </p:nvSpPr>
        <p:spPr>
          <a:xfrm>
            <a:off x="685800" y="868680"/>
            <a:ext cx="10789920" cy="914400"/>
          </a:xfrm>
          <a:prstGeom prst="rect">
            <a:avLst/>
          </a:prstGeom>
          <a:noFill/>
        </p:spPr>
        <p:txBody>
          <a:bodyPr wrap="square" lIns="0" tIns="0" rIns="0" bIns="0" anchor="t">
            <a:spAutoFit/>
          </a:bodyPr>
          <a:lstStyle/>
          <a:p>
            <a:pPr algn="l">
              <a:lnSpc>
                <a:spcPct val="100000"/>
              </a:lnSpc>
            </a:pPr>
            <a:r>
              <a:rPr sz="3200" b="1" i="0">
                <a:solidFill>
                  <a:srgbClr val="22D3EE"/>
                </a:solidFill>
                <a:latin typeface="Aptos Display"/>
              </a:rPr>
              <a:t>CLOUDCONTEXTGUARD</a:t>
            </a:r>
          </a:p>
        </p:txBody>
      </p:sp>
      <p:sp>
        <p:nvSpPr>
          <p:cNvPr id="14" name="TextBox 13"/>
          <p:cNvSpPr txBox="1"/>
          <p:nvPr/>
        </p:nvSpPr>
        <p:spPr>
          <a:xfrm>
            <a:off x="685800" y="1417320"/>
            <a:ext cx="10058400" cy="365760"/>
          </a:xfrm>
          <a:prstGeom prst="rect">
            <a:avLst/>
          </a:prstGeom>
          <a:noFill/>
        </p:spPr>
        <p:txBody>
          <a:bodyPr wrap="square" lIns="0" tIns="0" rIns="0" bIns="0" anchor="t">
            <a:spAutoFit/>
          </a:bodyPr>
          <a:lstStyle/>
          <a:p>
            <a:pPr algn="l">
              <a:lnSpc>
                <a:spcPct val="100000"/>
              </a:lnSpc>
            </a:pPr>
            <a:r>
              <a:rPr sz="1400" b="0" i="0">
                <a:solidFill>
                  <a:srgbClr val="A3B1C6"/>
                </a:solidFill>
                <a:latin typeface="Aptos"/>
              </a:rPr>
              <a:t>Five pure-function evaluation engines, one decision authority.</a:t>
            </a:r>
          </a:p>
        </p:txBody>
      </p:sp>
      <p:sp>
        <p:nvSpPr>
          <p:cNvPr id="15" name="Rounded Rectangle 14"/>
          <p:cNvSpPr/>
          <p:nvPr/>
        </p:nvSpPr>
        <p:spPr>
          <a:xfrm>
            <a:off x="960120" y="2148840"/>
            <a:ext cx="1691640" cy="960120"/>
          </a:xfrm>
          <a:prstGeom prst="roundRect">
            <a:avLst>
              <a:gd name="adj" fmla="val 16000"/>
            </a:avLst>
          </a:prstGeom>
          <a:solidFill>
            <a:srgbClr val="0D1524"/>
          </a:solidFill>
          <a:ln w="12700">
            <a:solidFill>
              <a:srgbClr val="22D3EE">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2D3EE"/>
                </a:solidFill>
                <a:latin typeface="Aptos Display"/>
              </a:rPr>
              <a:t>IAM</a:t>
            </a:r>
          </a:p>
        </p:txBody>
      </p:sp>
      <p:sp>
        <p:nvSpPr>
          <p:cNvPr id="16" name="Rounded Rectangle 15"/>
          <p:cNvSpPr/>
          <p:nvPr/>
        </p:nvSpPr>
        <p:spPr>
          <a:xfrm>
            <a:off x="3097530" y="2148840"/>
            <a:ext cx="1691640" cy="960120"/>
          </a:xfrm>
          <a:prstGeom prst="roundRect">
            <a:avLst>
              <a:gd name="adj" fmla="val 16000"/>
            </a:avLst>
          </a:prstGeom>
          <a:solidFill>
            <a:srgbClr val="0D1524"/>
          </a:solidFill>
          <a:ln w="12700">
            <a:solidFill>
              <a:srgbClr val="3B82F6">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3B82F6"/>
                </a:solidFill>
                <a:latin typeface="Aptos Display"/>
              </a:rPr>
              <a:t>VPC</a:t>
            </a:r>
          </a:p>
        </p:txBody>
      </p:sp>
      <p:sp>
        <p:nvSpPr>
          <p:cNvPr id="17" name="Rounded Rectangle 16"/>
          <p:cNvSpPr/>
          <p:nvPr/>
        </p:nvSpPr>
        <p:spPr>
          <a:xfrm>
            <a:off x="5234940" y="2148840"/>
            <a:ext cx="1691640" cy="960120"/>
          </a:xfrm>
          <a:prstGeom prst="roundRect">
            <a:avLst>
              <a:gd name="adj" fmla="val 16000"/>
            </a:avLst>
          </a:prstGeom>
          <a:solidFill>
            <a:srgbClr val="0D1524"/>
          </a:solidFill>
          <a:ln w="12700">
            <a:solidFill>
              <a:srgbClr val="8B5CF6">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8B5CF6"/>
                </a:solidFill>
                <a:latin typeface="Aptos Display"/>
              </a:rPr>
              <a:t>MFA</a:t>
            </a:r>
          </a:p>
        </p:txBody>
      </p:sp>
      <p:sp>
        <p:nvSpPr>
          <p:cNvPr id="18" name="Rounded Rectangle 17"/>
          <p:cNvSpPr/>
          <p:nvPr/>
        </p:nvSpPr>
        <p:spPr>
          <a:xfrm>
            <a:off x="7372350" y="2148840"/>
            <a:ext cx="1691640" cy="960120"/>
          </a:xfrm>
          <a:prstGeom prst="roundRect">
            <a:avLst>
              <a:gd name="adj" fmla="val 16000"/>
            </a:avLst>
          </a:prstGeom>
          <a:solidFill>
            <a:srgbClr val="0D1524"/>
          </a:solidFill>
          <a:ln w="12700">
            <a:solidFill>
              <a:srgbClr val="06B6D4">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6B6D4"/>
                </a:solidFill>
                <a:latin typeface="Aptos Display"/>
              </a:rPr>
              <a:t>POLICY</a:t>
            </a:r>
          </a:p>
        </p:txBody>
      </p:sp>
      <p:sp>
        <p:nvSpPr>
          <p:cNvPr id="19" name="Rounded Rectangle 18"/>
          <p:cNvSpPr/>
          <p:nvPr/>
        </p:nvSpPr>
        <p:spPr>
          <a:xfrm>
            <a:off x="9509760" y="2148840"/>
            <a:ext cx="1691640" cy="960120"/>
          </a:xfrm>
          <a:prstGeom prst="roundRect">
            <a:avLst>
              <a:gd name="adj" fmla="val 16000"/>
            </a:avLst>
          </a:prstGeom>
          <a:solidFill>
            <a:srgbClr val="0D1524"/>
          </a:solidFill>
          <a:ln w="12700">
            <a:solidFill>
              <a:srgbClr val="FBBF24">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BBF24"/>
                </a:solidFill>
                <a:latin typeface="Aptos Display"/>
              </a:rPr>
              <a:t>RISK</a:t>
            </a:r>
          </a:p>
        </p:txBody>
      </p:sp>
      <p:cxnSp>
        <p:nvCxnSpPr>
          <p:cNvPr id="20" name="Connector 19"/>
          <p:cNvCxnSpPr/>
          <p:nvPr/>
        </p:nvCxnSpPr>
        <p:spPr>
          <a:xfrm>
            <a:off x="1805940" y="3108960"/>
            <a:ext cx="4293108" cy="594360"/>
          </a:xfrm>
          <a:prstGeom prst="line">
            <a:avLst/>
          </a:prstGeom>
          <a:ln w="1397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943350" y="3108960"/>
            <a:ext cx="2155698" cy="594360"/>
          </a:xfrm>
          <a:prstGeom prst="line">
            <a:avLst/>
          </a:prstGeom>
          <a:ln w="1397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80759" y="3108960"/>
            <a:ext cx="18289" cy="594360"/>
          </a:xfrm>
          <a:prstGeom prst="line">
            <a:avLst/>
          </a:prstGeom>
          <a:ln w="1397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99048" y="3108960"/>
            <a:ext cx="2119122" cy="594360"/>
          </a:xfrm>
          <a:prstGeom prst="line">
            <a:avLst/>
          </a:prstGeom>
          <a:ln w="1397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099048" y="3108960"/>
            <a:ext cx="4256532" cy="594360"/>
          </a:xfrm>
          <a:prstGeom prst="line">
            <a:avLst/>
          </a:prstGeom>
          <a:ln w="1397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270248" y="3703320"/>
            <a:ext cx="3657600" cy="868680"/>
          </a:xfrm>
          <a:prstGeom prst="roundRect">
            <a:avLst>
              <a:gd name="adj" fmla="val 14000"/>
            </a:avLst>
          </a:prstGeom>
          <a:solidFill>
            <a:srgbClr val="131E33"/>
          </a:solidFill>
          <a:ln w="12700">
            <a:solidFill>
              <a:srgbClr val="F7FAFC">
                <a:alpha val="6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7FAFC"/>
                </a:solidFill>
                <a:latin typeface="Aptos Display"/>
              </a:rPr>
              <a:t>DECISION ENGINE</a:t>
            </a:r>
          </a:p>
        </p:txBody>
      </p:sp>
      <p:cxnSp>
        <p:nvCxnSpPr>
          <p:cNvPr id="26" name="Connector 25"/>
          <p:cNvCxnSpPr/>
          <p:nvPr/>
        </p:nvCxnSpPr>
        <p:spPr>
          <a:xfrm>
            <a:off x="6099048" y="4572000"/>
            <a:ext cx="0" cy="320040"/>
          </a:xfrm>
          <a:prstGeom prst="line">
            <a:avLst/>
          </a:prstGeom>
          <a:ln w="1651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270248" y="4956048"/>
            <a:ext cx="1554480" cy="457200"/>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4ADE80"/>
                </a:solidFill>
                <a:latin typeface="Aptos"/>
              </a:rPr>
              <a:t>ALLOW</a:t>
            </a:r>
          </a:p>
        </p:txBody>
      </p:sp>
      <p:sp>
        <p:nvSpPr>
          <p:cNvPr id="28" name="Rounded Rectangle 27"/>
          <p:cNvSpPr/>
          <p:nvPr/>
        </p:nvSpPr>
        <p:spPr>
          <a:xfrm>
            <a:off x="6373368" y="4956048"/>
            <a:ext cx="1554480" cy="457200"/>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87171"/>
                </a:solidFill>
                <a:latin typeface="Aptos"/>
              </a:rPr>
              <a:t>DENY</a:t>
            </a:r>
          </a:p>
        </p:txBody>
      </p:sp>
      <p:sp>
        <p:nvSpPr>
          <p:cNvPr id="29" name="Rounded Rectangle 28"/>
          <p:cNvSpPr/>
          <p:nvPr/>
        </p:nvSpPr>
        <p:spPr>
          <a:xfrm>
            <a:off x="2194560" y="5852160"/>
            <a:ext cx="7772400" cy="475488"/>
          </a:xfrm>
          <a:prstGeom prst="roundRect">
            <a:avLst>
              <a:gd name="adj" fmla="val 50000"/>
            </a:avLst>
          </a:prstGeom>
          <a:solidFill>
            <a:srgbClr val="0D1524">
              <a:alpha val="55000"/>
            </a:srgbClr>
          </a:solidFill>
          <a:ln w="12700">
            <a:solidFill>
              <a:srgbClr val="24355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94560" y="5961888"/>
            <a:ext cx="7772400" cy="365760"/>
          </a:xfrm>
          <a:prstGeom prst="rect">
            <a:avLst/>
          </a:prstGeom>
          <a:noFill/>
        </p:spPr>
        <p:txBody>
          <a:bodyPr wrap="square" lIns="0" tIns="0" rIns="0" bIns="0" anchor="t">
            <a:spAutoFit/>
          </a:bodyPr>
          <a:lstStyle/>
          <a:p>
            <a:pPr algn="ctr">
              <a:lnSpc>
                <a:spcPct val="100000"/>
              </a:lnSpc>
            </a:pPr>
            <a:r>
              <a:rPr sz="1500" b="1" i="0">
                <a:solidFill>
                  <a:srgbClr val="22D3EE"/>
                </a:solidFill>
                <a:latin typeface="Aptos Display"/>
              </a:rPr>
              <a:t>IAM permission is necessary, but not sufficient.</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par>
                          <p:cTn id="20" fill="hold">
                            <p:stCondLst>
                              <p:cond delay="750"/>
                            </p:stCondLst>
                            <p:childTnLst>
                              <p:par>
                                <p:cTn id="21" presetID="10" presetClass="entr" presetSubtype="0" fill="hold" nodeType="afterEffect">
                                  <p:stCondLst>
                                    <p:cond delay="2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2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nodeType="withEffect">
                                  <p:stCondLst>
                                    <p:cond delay="20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nodeType="withEffect">
                                  <p:stCondLst>
                                    <p:cond delay="20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nodeType="withEffect">
                                  <p:stCondLst>
                                    <p:cond delay="20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1450"/>
                            </p:stCondLst>
                            <p:childTnLst>
                              <p:par>
                                <p:cTn id="37" presetID="10" presetClass="entr" presetSubtype="0" fill="hold" grpId="0" nodeType="afterEffect">
                                  <p:stCondLst>
                                    <p:cond delay="20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par>
                          <p:cTn id="40" fill="hold">
                            <p:stCondLst>
                              <p:cond delay="2150"/>
                            </p:stCondLst>
                            <p:childTnLst>
                              <p:par>
                                <p:cTn id="41" presetID="10" presetClass="entr" presetSubtype="0" fill="hold" nodeType="afterEffect">
                                  <p:stCondLst>
                                    <p:cond delay="20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20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par>
                          <p:cTn id="50" fill="hold">
                            <p:stCondLst>
                              <p:cond delay="2850"/>
                            </p:stCondLst>
                            <p:childTnLst>
                              <p:par>
                                <p:cTn id="51" presetID="10" presetClass="entr" presetSubtype="0" fill="hold" grpId="0" nodeType="afterEffect">
                                  <p:stCondLst>
                                    <p:cond delay="30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5" grpId="0" animBg="1"/>
      <p:bldP spid="27" grpId="0" animBg="1"/>
      <p:bldP spid="28" grpId="0" animBg="1"/>
      <p:bldP spid="29" grpId="0" animBg="1"/>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05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SYSTEM ARCHITECTURE</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How a request actually moves through the system</a:t>
            </a:r>
          </a:p>
        </p:txBody>
      </p:sp>
      <p:sp>
        <p:nvSpPr>
          <p:cNvPr id="14" name="Rounded Rectangle 13"/>
          <p:cNvSpPr/>
          <p:nvPr/>
        </p:nvSpPr>
        <p:spPr>
          <a:xfrm>
            <a:off x="2441448" y="1554480"/>
            <a:ext cx="7315200" cy="566928"/>
          </a:xfrm>
          <a:prstGeom prst="roundRect">
            <a:avLst>
              <a:gd name="adj" fmla="val 14000"/>
            </a:avLst>
          </a:prstGeom>
          <a:solidFill>
            <a:srgbClr val="0D1524"/>
          </a:solidFill>
          <a:ln w="12700">
            <a:solidFill>
              <a:srgbClr val="F7FAFC">
                <a:alpha val="70000"/>
              </a:srgbClr>
            </a:solidFill>
          </a:ln>
          <a:effectLst/>
        </p:spPr>
        <p:style>
          <a:lnRef idx="1">
            <a:schemeClr val="accent1"/>
          </a:lnRef>
          <a:fillRef idx="3">
            <a:schemeClr val="accent1"/>
          </a:fillRef>
          <a:effectRef idx="2">
            <a:schemeClr val="accent1"/>
          </a:effectRef>
          <a:fontRef idx="minor">
            <a:schemeClr val="lt1"/>
          </a:fontRef>
        </p:style>
        <p:txBody>
          <a:bodyPr lIns="201168" rtlCol="0" anchor="ctr"/>
          <a:lstStyle/>
          <a:p>
            <a:pPr algn="ctr"/>
            <a:r>
              <a:rPr sz="1400" b="1">
                <a:solidFill>
                  <a:srgbClr val="F7FAFC"/>
                </a:solidFill>
                <a:latin typeface="Aptos Display"/>
              </a:rPr>
              <a:t>REACT DASHBOARD</a:t>
            </a:r>
            <a:r>
              <a:rPr sz="1100">
                <a:solidFill>
                  <a:srgbClr val="A3B1C6"/>
                </a:solidFill>
                <a:latin typeface="Aptos"/>
              </a:rPr>
              <a:t>   frontend / Vite — renders only what the API returns</a:t>
            </a:r>
          </a:p>
        </p:txBody>
      </p:sp>
      <p:cxnSp>
        <p:nvCxnSpPr>
          <p:cNvPr id="15" name="Connector 14"/>
          <p:cNvCxnSpPr/>
          <p:nvPr/>
        </p:nvCxnSpPr>
        <p:spPr>
          <a:xfrm>
            <a:off x="6099048" y="2121408"/>
            <a:ext cx="0" cy="182880"/>
          </a:xfrm>
          <a:prstGeom prst="line">
            <a:avLst/>
          </a:prstGeom>
          <a:ln w="1524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441448" y="2304288"/>
            <a:ext cx="7315200" cy="566928"/>
          </a:xfrm>
          <a:prstGeom prst="roundRect">
            <a:avLst>
              <a:gd name="adj" fmla="val 14000"/>
            </a:avLst>
          </a:prstGeom>
          <a:solidFill>
            <a:srgbClr val="0D1524"/>
          </a:solidFill>
          <a:ln w="12700">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lIns="201168" rtlCol="0" anchor="ctr"/>
          <a:lstStyle/>
          <a:p>
            <a:pPr algn="ctr"/>
            <a:r>
              <a:rPr sz="1400" b="1">
                <a:solidFill>
                  <a:srgbClr val="22D3EE"/>
                </a:solidFill>
                <a:latin typeface="Aptos Display"/>
              </a:rPr>
              <a:t>FASTAPI APPLICATION</a:t>
            </a:r>
            <a:r>
              <a:rPr sz="1100">
                <a:solidFill>
                  <a:srgbClr val="A3B1C6"/>
                </a:solidFill>
                <a:latin typeface="Aptos"/>
              </a:rPr>
              <a:t>   backend/app/main.py — the single HTTP boundary</a:t>
            </a:r>
          </a:p>
        </p:txBody>
      </p:sp>
      <p:cxnSp>
        <p:nvCxnSpPr>
          <p:cNvPr id="17" name="Connector 16"/>
          <p:cNvCxnSpPr/>
          <p:nvPr/>
        </p:nvCxnSpPr>
        <p:spPr>
          <a:xfrm>
            <a:off x="6099048" y="2871216"/>
            <a:ext cx="0" cy="182880"/>
          </a:xfrm>
          <a:prstGeom prst="line">
            <a:avLst/>
          </a:prstGeom>
          <a:ln w="1524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441448" y="3054096"/>
            <a:ext cx="7315200" cy="566928"/>
          </a:xfrm>
          <a:prstGeom prst="roundRect">
            <a:avLst>
              <a:gd name="adj" fmla="val 14000"/>
            </a:avLst>
          </a:prstGeom>
          <a:solidFill>
            <a:srgbClr val="0D1524"/>
          </a:solidFill>
          <a:ln w="12700">
            <a:solidFill>
              <a:srgbClr val="3B82F6">
                <a:alpha val="70000"/>
              </a:srgbClr>
            </a:solidFill>
          </a:ln>
          <a:effectLst/>
        </p:spPr>
        <p:style>
          <a:lnRef idx="1">
            <a:schemeClr val="accent1"/>
          </a:lnRef>
          <a:fillRef idx="3">
            <a:schemeClr val="accent1"/>
          </a:fillRef>
          <a:effectRef idx="2">
            <a:schemeClr val="accent1"/>
          </a:effectRef>
          <a:fontRef idx="minor">
            <a:schemeClr val="lt1"/>
          </a:fontRef>
        </p:style>
        <p:txBody>
          <a:bodyPr lIns="201168" rtlCol="0" anchor="ctr"/>
          <a:lstStyle/>
          <a:p>
            <a:pPr algn="ctr"/>
            <a:r>
              <a:rPr sz="1400" b="1">
                <a:solidFill>
                  <a:srgbClr val="3B82F6"/>
                </a:solidFill>
                <a:latin typeface="Aptos Display"/>
              </a:rPr>
              <a:t>ACCESS SERVICE</a:t>
            </a:r>
            <a:r>
              <a:rPr sz="1100">
                <a:solidFill>
                  <a:srgbClr val="A3B1C6"/>
                </a:solidFill>
                <a:latin typeface="Aptos"/>
              </a:rPr>
              <a:t>   resolves the database, calls every engine in order</a:t>
            </a:r>
          </a:p>
        </p:txBody>
      </p:sp>
      <p:cxnSp>
        <p:nvCxnSpPr>
          <p:cNvPr id="19" name="Connector 18"/>
          <p:cNvCxnSpPr/>
          <p:nvPr/>
        </p:nvCxnSpPr>
        <p:spPr>
          <a:xfrm>
            <a:off x="6099048" y="3621024"/>
            <a:ext cx="0" cy="182880"/>
          </a:xfrm>
          <a:prstGeom prst="line">
            <a:avLst/>
          </a:prstGeom>
          <a:ln w="1524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6968" y="3739896"/>
            <a:ext cx="10424160" cy="859536"/>
          </a:xfrm>
          <a:prstGeom prst="roundRect">
            <a:avLst>
              <a:gd name="adj" fmla="val 6000"/>
            </a:avLst>
          </a:prstGeom>
          <a:noFill/>
          <a:ln w="12700">
            <a:solidFill>
              <a:srgbClr val="182438">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69848" y="3849624"/>
            <a:ext cx="2331720" cy="640080"/>
          </a:xfrm>
          <a:prstGeom prst="roundRect">
            <a:avLst>
              <a:gd name="adj" fmla="val 18000"/>
            </a:avLst>
          </a:prstGeom>
          <a:solidFill>
            <a:srgbClr val="131E33"/>
          </a:solidFill>
          <a:ln w="12700">
            <a:solidFill>
              <a:srgbClr val="22D3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2D3EE"/>
                </a:solidFill>
                <a:latin typeface="Aptos"/>
              </a:rPr>
              <a:t>IAM ENGINE</a:t>
            </a:r>
          </a:p>
        </p:txBody>
      </p:sp>
      <p:sp>
        <p:nvSpPr>
          <p:cNvPr id="22" name="Rounded Rectangle 21"/>
          <p:cNvSpPr/>
          <p:nvPr/>
        </p:nvSpPr>
        <p:spPr>
          <a:xfrm>
            <a:off x="3645408" y="3849624"/>
            <a:ext cx="2331720" cy="640080"/>
          </a:xfrm>
          <a:prstGeom prst="roundRect">
            <a:avLst>
              <a:gd name="adj" fmla="val 18000"/>
            </a:avLst>
          </a:prstGeom>
          <a:solidFill>
            <a:srgbClr val="131E33"/>
          </a:solidFill>
          <a:ln w="12700">
            <a:solidFill>
              <a:srgbClr val="3B82F6">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3B82F6"/>
                </a:solidFill>
                <a:latin typeface="Aptos"/>
              </a:rPr>
              <a:t>VPC ENGINE</a:t>
            </a:r>
          </a:p>
        </p:txBody>
      </p:sp>
      <p:sp>
        <p:nvSpPr>
          <p:cNvPr id="23" name="Rounded Rectangle 22"/>
          <p:cNvSpPr/>
          <p:nvPr/>
        </p:nvSpPr>
        <p:spPr>
          <a:xfrm>
            <a:off x="6220968" y="3849624"/>
            <a:ext cx="2331720" cy="640080"/>
          </a:xfrm>
          <a:prstGeom prst="roundRect">
            <a:avLst>
              <a:gd name="adj" fmla="val 18000"/>
            </a:avLst>
          </a:prstGeom>
          <a:solidFill>
            <a:srgbClr val="131E33"/>
          </a:solidFill>
          <a:ln w="12700">
            <a:solidFill>
              <a:srgbClr val="8B5CF6">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8B5CF6"/>
                </a:solidFill>
                <a:latin typeface="Aptos"/>
              </a:rPr>
              <a:t>POLICY ENGINE (+MFA)</a:t>
            </a:r>
          </a:p>
        </p:txBody>
      </p:sp>
      <p:sp>
        <p:nvSpPr>
          <p:cNvPr id="24" name="Rounded Rectangle 23"/>
          <p:cNvSpPr/>
          <p:nvPr/>
        </p:nvSpPr>
        <p:spPr>
          <a:xfrm>
            <a:off x="8796528" y="3849624"/>
            <a:ext cx="2331720" cy="640080"/>
          </a:xfrm>
          <a:prstGeom prst="roundRect">
            <a:avLst>
              <a:gd name="adj" fmla="val 18000"/>
            </a:avLst>
          </a:prstGeom>
          <a:solidFill>
            <a:srgbClr val="131E33"/>
          </a:solidFill>
          <a:ln w="12700">
            <a:solidFill>
              <a:srgbClr val="FBBF24">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BBF24"/>
                </a:solidFill>
                <a:latin typeface="Aptos"/>
              </a:rPr>
              <a:t>RISK ENGINE</a:t>
            </a:r>
          </a:p>
        </p:txBody>
      </p:sp>
      <p:sp>
        <p:nvSpPr>
          <p:cNvPr id="25" name="Rounded Rectangle 24"/>
          <p:cNvSpPr/>
          <p:nvPr/>
        </p:nvSpPr>
        <p:spPr>
          <a:xfrm>
            <a:off x="3813048" y="4892040"/>
            <a:ext cx="4572000" cy="548640"/>
          </a:xfrm>
          <a:prstGeom prst="roundRect">
            <a:avLst>
              <a:gd name="adj" fmla="val 50000"/>
            </a:avLst>
          </a:prstGeom>
          <a:solidFill>
            <a:srgbClr val="131E33"/>
          </a:solidFill>
          <a:ln w="12700">
            <a:solidFill>
              <a:srgbClr val="F7FAFC">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7FAFC"/>
                </a:solidFill>
                <a:latin typeface="Aptos Display"/>
              </a:rPr>
              <a:t>DECISION ENGINE  —  sole ALLOW / DENY authority</a:t>
            </a:r>
          </a:p>
        </p:txBody>
      </p:sp>
      <p:cxnSp>
        <p:nvCxnSpPr>
          <p:cNvPr id="26" name="Connector 25"/>
          <p:cNvCxnSpPr/>
          <p:nvPr/>
        </p:nvCxnSpPr>
        <p:spPr>
          <a:xfrm>
            <a:off x="2235708" y="4489704"/>
            <a:ext cx="3863340" cy="402336"/>
          </a:xfrm>
          <a:prstGeom prst="line">
            <a:avLst/>
          </a:prstGeom>
          <a:ln w="12700">
            <a:solidFill>
              <a:srgbClr val="243550">
                <a:alpha val="45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11268" y="4489704"/>
            <a:ext cx="1287780" cy="402336"/>
          </a:xfrm>
          <a:prstGeom prst="line">
            <a:avLst/>
          </a:prstGeom>
          <a:ln w="12700">
            <a:solidFill>
              <a:srgbClr val="243550">
                <a:alpha val="45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099048" y="4489704"/>
            <a:ext cx="1287780" cy="402336"/>
          </a:xfrm>
          <a:prstGeom prst="line">
            <a:avLst/>
          </a:prstGeom>
          <a:ln w="12700">
            <a:solidFill>
              <a:srgbClr val="243550">
                <a:alpha val="45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099048" y="4489704"/>
            <a:ext cx="3863340" cy="402336"/>
          </a:xfrm>
          <a:prstGeom prst="line">
            <a:avLst/>
          </a:prstGeom>
          <a:ln w="12700">
            <a:solidFill>
              <a:srgbClr val="243550">
                <a:alpha val="45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99048" y="5440680"/>
            <a:ext cx="0" cy="164592"/>
          </a:xfrm>
          <a:prstGeom prst="line">
            <a:avLst/>
          </a:prstGeom>
          <a:ln w="1524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108960" y="5605272"/>
            <a:ext cx="2743200" cy="384048"/>
          </a:xfrm>
          <a:prstGeom prst="roundRect">
            <a:avLst>
              <a:gd name="adj" fmla="val 50000"/>
            </a:avLst>
          </a:prstGeom>
          <a:solidFill>
            <a:srgbClr val="06B6D4">
              <a:alpha val="16000"/>
            </a:srgbClr>
          </a:solidFill>
          <a:ln w="12700">
            <a:solidFill>
              <a:srgbClr val="06B6D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50" b="1">
                <a:solidFill>
                  <a:srgbClr val="06B6D4"/>
                </a:solidFill>
                <a:latin typeface="Aptos"/>
              </a:rPr>
              <a:t>SQLITE DATABASE</a:t>
            </a:r>
          </a:p>
        </p:txBody>
      </p:sp>
      <p:sp>
        <p:nvSpPr>
          <p:cNvPr id="32" name="Rounded Rectangle 31"/>
          <p:cNvSpPr/>
          <p:nvPr/>
        </p:nvSpPr>
        <p:spPr>
          <a:xfrm>
            <a:off x="6217920" y="5605272"/>
            <a:ext cx="2743200" cy="38404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50" b="1">
                <a:solidFill>
                  <a:srgbClr val="F87171"/>
                </a:solidFill>
                <a:latin typeface="Aptos"/>
              </a:rPr>
              <a:t>AUDIT / EVENTS / ALERTS</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06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AUTHORIZATION PIPELINE</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800" b="1" i="0">
                <a:solidFill>
                  <a:srgbClr val="F7FAFC"/>
                </a:solidFill>
                <a:latin typeface="Aptos Display"/>
              </a:rPr>
              <a:t>One request. Six independent gates.</a:t>
            </a:r>
          </a:p>
        </p:txBody>
      </p:sp>
      <p:sp>
        <p:nvSpPr>
          <p:cNvPr id="14" name="TextBox 13"/>
          <p:cNvSpPr txBox="1"/>
          <p:nvPr/>
        </p:nvSpPr>
        <p:spPr>
          <a:xfrm>
            <a:off x="685800" y="1371600"/>
            <a:ext cx="10058400" cy="365760"/>
          </a:xfrm>
          <a:prstGeom prst="rect">
            <a:avLst/>
          </a:prstGeom>
          <a:noFill/>
        </p:spPr>
        <p:txBody>
          <a:bodyPr wrap="square" lIns="0" tIns="0" rIns="0" bIns="0" anchor="t">
            <a:spAutoFit/>
          </a:bodyPr>
          <a:lstStyle/>
          <a:p>
            <a:pPr algn="l">
              <a:lnSpc>
                <a:spcPct val="100000"/>
              </a:lnSpc>
            </a:pPr>
            <a:r>
              <a:rPr sz="1300" b="0" i="0">
                <a:solidFill>
                  <a:srgbClr val="A3B1C6"/>
                </a:solidFill>
                <a:latin typeface="Aptos"/>
              </a:rPr>
              <a:t>Example: a legitimate request, walked stage by stage.</a:t>
            </a:r>
          </a:p>
        </p:txBody>
      </p:sp>
      <p:sp>
        <p:nvSpPr>
          <p:cNvPr id="15" name="Rounded Rectangle 14"/>
          <p:cNvSpPr/>
          <p:nvPr/>
        </p:nvSpPr>
        <p:spPr>
          <a:xfrm>
            <a:off x="795528" y="2331720"/>
            <a:ext cx="1298448" cy="1005840"/>
          </a:xfrm>
          <a:prstGeom prst="roundRect">
            <a:avLst>
              <a:gd name="adj" fmla="val 18000"/>
            </a:avLst>
          </a:prstGeom>
          <a:solidFill>
            <a:srgbClr val="0D1524"/>
          </a:solidFill>
          <a:ln w="12700">
            <a:solidFill>
              <a:srgbClr val="F7FAFC">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7FAFC"/>
                </a:solidFill>
                <a:latin typeface="Aptos Display"/>
              </a:rPr>
              <a:t>REQUEST</a:t>
            </a:r>
          </a:p>
        </p:txBody>
      </p:sp>
      <p:sp>
        <p:nvSpPr>
          <p:cNvPr id="16" name="Chevron 15"/>
          <p:cNvSpPr/>
          <p:nvPr/>
        </p:nvSpPr>
        <p:spPr>
          <a:xfrm>
            <a:off x="2092451"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346960" y="2331720"/>
            <a:ext cx="1298448" cy="1005840"/>
          </a:xfrm>
          <a:prstGeom prst="roundRect">
            <a:avLst>
              <a:gd name="adj" fmla="val 18000"/>
            </a:avLst>
          </a:prstGeom>
          <a:solidFill>
            <a:srgbClr val="0D1524"/>
          </a:solidFill>
          <a:ln w="12700">
            <a:solidFill>
              <a:srgbClr val="4ADE80">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4ADE80"/>
                </a:solidFill>
                <a:latin typeface="Aptos Display"/>
              </a:rPr>
              <a:t>IAM</a:t>
            </a:r>
          </a:p>
        </p:txBody>
      </p:sp>
      <p:sp>
        <p:nvSpPr>
          <p:cNvPr id="18" name="Chevron 17"/>
          <p:cNvSpPr/>
          <p:nvPr/>
        </p:nvSpPr>
        <p:spPr>
          <a:xfrm>
            <a:off x="3643884"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346960" y="3593591"/>
            <a:ext cx="1298448" cy="329184"/>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20" name="Rounded Rectangle 19"/>
          <p:cNvSpPr/>
          <p:nvPr/>
        </p:nvSpPr>
        <p:spPr>
          <a:xfrm>
            <a:off x="3898391" y="2331720"/>
            <a:ext cx="1298448" cy="1005840"/>
          </a:xfrm>
          <a:prstGeom prst="roundRect">
            <a:avLst>
              <a:gd name="adj" fmla="val 18000"/>
            </a:avLst>
          </a:prstGeom>
          <a:solidFill>
            <a:srgbClr val="0D1524"/>
          </a:solidFill>
          <a:ln w="12700">
            <a:solidFill>
              <a:srgbClr val="4ADE80">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4ADE80"/>
                </a:solidFill>
                <a:latin typeface="Aptos Display"/>
              </a:rPr>
              <a:t>VPC</a:t>
            </a:r>
          </a:p>
        </p:txBody>
      </p:sp>
      <p:sp>
        <p:nvSpPr>
          <p:cNvPr id="21" name="Chevron 20"/>
          <p:cNvSpPr/>
          <p:nvPr/>
        </p:nvSpPr>
        <p:spPr>
          <a:xfrm>
            <a:off x="5195316"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898391" y="3593591"/>
            <a:ext cx="1298448" cy="329184"/>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23" name="Rounded Rectangle 22"/>
          <p:cNvSpPr/>
          <p:nvPr/>
        </p:nvSpPr>
        <p:spPr>
          <a:xfrm>
            <a:off x="5449823" y="2331720"/>
            <a:ext cx="1298448" cy="1005840"/>
          </a:xfrm>
          <a:prstGeom prst="roundRect">
            <a:avLst>
              <a:gd name="adj" fmla="val 18000"/>
            </a:avLst>
          </a:prstGeom>
          <a:solidFill>
            <a:srgbClr val="0D1524"/>
          </a:solidFill>
          <a:ln w="12700">
            <a:solidFill>
              <a:srgbClr val="4ADE80">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4ADE80"/>
                </a:solidFill>
                <a:latin typeface="Aptos Display"/>
              </a:rPr>
              <a:t>MFA</a:t>
            </a:r>
          </a:p>
        </p:txBody>
      </p:sp>
      <p:sp>
        <p:nvSpPr>
          <p:cNvPr id="24" name="Chevron 23"/>
          <p:cNvSpPr/>
          <p:nvPr/>
        </p:nvSpPr>
        <p:spPr>
          <a:xfrm>
            <a:off x="6746748"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449823" y="3593591"/>
            <a:ext cx="1298448" cy="329184"/>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26" name="Rounded Rectangle 25"/>
          <p:cNvSpPr/>
          <p:nvPr/>
        </p:nvSpPr>
        <p:spPr>
          <a:xfrm>
            <a:off x="7001255" y="2331720"/>
            <a:ext cx="1298448" cy="1005840"/>
          </a:xfrm>
          <a:prstGeom prst="roundRect">
            <a:avLst>
              <a:gd name="adj" fmla="val 18000"/>
            </a:avLst>
          </a:prstGeom>
          <a:solidFill>
            <a:srgbClr val="0D1524"/>
          </a:solidFill>
          <a:ln w="12700">
            <a:solidFill>
              <a:srgbClr val="4ADE80">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4ADE80"/>
                </a:solidFill>
                <a:latin typeface="Aptos Display"/>
              </a:rPr>
              <a:t>POLICY</a:t>
            </a:r>
          </a:p>
        </p:txBody>
      </p:sp>
      <p:sp>
        <p:nvSpPr>
          <p:cNvPr id="27" name="Chevron 26"/>
          <p:cNvSpPr/>
          <p:nvPr/>
        </p:nvSpPr>
        <p:spPr>
          <a:xfrm>
            <a:off x="8298179"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001255" y="3593591"/>
            <a:ext cx="1298448" cy="329184"/>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29" name="Rounded Rectangle 28"/>
          <p:cNvSpPr/>
          <p:nvPr/>
        </p:nvSpPr>
        <p:spPr>
          <a:xfrm>
            <a:off x="8552687" y="2331720"/>
            <a:ext cx="1298448" cy="1005840"/>
          </a:xfrm>
          <a:prstGeom prst="roundRect">
            <a:avLst>
              <a:gd name="adj" fmla="val 18000"/>
            </a:avLst>
          </a:prstGeom>
          <a:solidFill>
            <a:srgbClr val="0D1524"/>
          </a:solidFill>
          <a:ln w="12700">
            <a:solidFill>
              <a:srgbClr val="4ADE80">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4ADE80"/>
                </a:solidFill>
                <a:latin typeface="Aptos Display"/>
              </a:rPr>
              <a:t>RISK</a:t>
            </a:r>
          </a:p>
        </p:txBody>
      </p:sp>
      <p:sp>
        <p:nvSpPr>
          <p:cNvPr id="30" name="Chevron 29"/>
          <p:cNvSpPr/>
          <p:nvPr/>
        </p:nvSpPr>
        <p:spPr>
          <a:xfrm>
            <a:off x="9849611" y="2761487"/>
            <a:ext cx="292608" cy="146304"/>
          </a:xfrm>
          <a:prstGeom prst="chevron">
            <a:avLst/>
          </a:prstGeom>
          <a:solidFill>
            <a:srgbClr val="22D3E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552687" y="3593591"/>
            <a:ext cx="1298448" cy="329184"/>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32" name="Rounded Rectangle 31"/>
          <p:cNvSpPr/>
          <p:nvPr/>
        </p:nvSpPr>
        <p:spPr>
          <a:xfrm>
            <a:off x="10104119" y="2331720"/>
            <a:ext cx="1298448" cy="1005840"/>
          </a:xfrm>
          <a:prstGeom prst="roundRect">
            <a:avLst>
              <a:gd name="adj" fmla="val 18000"/>
            </a:avLst>
          </a:prstGeom>
          <a:solidFill>
            <a:srgbClr val="0D1524"/>
          </a:solidFill>
          <a:ln w="12700">
            <a:solidFill>
              <a:srgbClr val="F7FAFC">
                <a:alpha val="8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7FAFC"/>
                </a:solidFill>
                <a:latin typeface="Aptos Display"/>
              </a:rPr>
              <a:t>DECISION</a:t>
            </a:r>
          </a:p>
        </p:txBody>
      </p:sp>
      <p:sp>
        <p:nvSpPr>
          <p:cNvPr id="33" name="Rounded Rectangle 32"/>
          <p:cNvSpPr/>
          <p:nvPr/>
        </p:nvSpPr>
        <p:spPr>
          <a:xfrm>
            <a:off x="795528" y="4892040"/>
            <a:ext cx="10607040" cy="685800"/>
          </a:xfrm>
          <a:prstGeom prst="roundRect">
            <a:avLst>
              <a:gd name="adj" fmla="val 50000"/>
            </a:avLst>
          </a:prstGeom>
          <a:solidFill>
            <a:srgbClr val="0D1524">
              <a:alpha val="55000"/>
            </a:srgbClr>
          </a:solidFill>
          <a:ln w="12700">
            <a:solidFill>
              <a:srgbClr val="4ADE80">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95528" y="5056632"/>
            <a:ext cx="10607040" cy="411480"/>
          </a:xfrm>
          <a:prstGeom prst="rect">
            <a:avLst/>
          </a:prstGeom>
          <a:noFill/>
        </p:spPr>
        <p:txBody>
          <a:bodyPr wrap="square" lIns="0" tIns="0" rIns="0" bIns="0" anchor="t">
            <a:spAutoFit/>
          </a:bodyPr>
          <a:lstStyle/>
          <a:p>
            <a:pPr algn="ctr">
              <a:lnSpc>
                <a:spcPct val="100000"/>
              </a:lnSpc>
            </a:pPr>
            <a:r>
              <a:rPr sz="1600" b="1" i="0">
                <a:solidFill>
                  <a:srgbClr val="4ADE80"/>
                </a:solidFill>
                <a:latin typeface="Aptos Display"/>
              </a:rPr>
              <a:t>ALL SIX GATES PASSED  →  FINAL DECISION: ALLOW</a:t>
            </a:r>
          </a:p>
        </p:txBody>
      </p:sp>
      <p:sp>
        <p:nvSpPr>
          <p:cNvPr id="35" name="TextBox 34"/>
          <p:cNvSpPr txBox="1"/>
          <p:nvPr/>
        </p:nvSpPr>
        <p:spPr>
          <a:xfrm>
            <a:off x="685800" y="5897880"/>
            <a:ext cx="10515600" cy="365760"/>
          </a:xfrm>
          <a:prstGeom prst="rect">
            <a:avLst/>
          </a:prstGeom>
          <a:noFill/>
        </p:spPr>
        <p:txBody>
          <a:bodyPr wrap="square" lIns="0" tIns="0" rIns="0" bIns="0" anchor="t">
            <a:spAutoFit/>
          </a:bodyPr>
          <a:lstStyle/>
          <a:p>
            <a:pPr algn="l">
              <a:lnSpc>
                <a:spcPct val="100000"/>
              </a:lnSpc>
            </a:pPr>
            <a:r>
              <a:rPr sz="1250" b="0" i="0">
                <a:solidFill>
                  <a:srgbClr val="A3B1C6"/>
                </a:solidFill>
                <a:latin typeface="Aptos"/>
              </a:rPr>
              <a:t>Every one of these six inputs is evaluated independently, on every request, every time.</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par>
                          <p:cTn id="11" fill="hold">
                            <p:stCondLst>
                              <p:cond delay="650"/>
                            </p:stCondLst>
                            <p:childTnLst>
                              <p:par>
                                <p:cTn id="12" presetID="10" presetClass="entr" presetSubtype="0" fill="hold" grpId="0" nodeType="afterEffect">
                                  <p:stCondLst>
                                    <p:cond delay="15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15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par>
                                <p:cTn id="18" presetID="10" presetClass="entr" presetSubtype="0" fill="hold" grpId="0" nodeType="withEffect">
                                  <p:stCondLst>
                                    <p:cond delay="15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par>
                          <p:cTn id="21" fill="hold">
                            <p:stCondLst>
                              <p:cond delay="1300"/>
                            </p:stCondLst>
                            <p:childTnLst>
                              <p:par>
                                <p:cTn id="22" presetID="10" presetClass="entr" presetSubtype="0" fill="hold" grpId="0" nodeType="afterEffect">
                                  <p:stCondLst>
                                    <p:cond delay="15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grpId="0" nodeType="withEffect">
                                  <p:stCondLst>
                                    <p:cond delay="15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grpId="0" nodeType="withEffect">
                                  <p:stCondLst>
                                    <p:cond delay="15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par>
                          <p:cTn id="31" fill="hold">
                            <p:stCondLst>
                              <p:cond delay="1950"/>
                            </p:stCondLst>
                            <p:childTnLst>
                              <p:par>
                                <p:cTn id="32" presetID="10" presetClass="entr" presetSubtype="0" fill="hold" grpId="0" nodeType="afterEffect">
                                  <p:stCondLst>
                                    <p:cond delay="15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15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15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600"/>
                            </p:stCondLst>
                            <p:childTnLst>
                              <p:par>
                                <p:cTn id="42" presetID="10" presetClass="entr" presetSubtype="0" fill="hold" grpId="0" nodeType="afterEffect">
                                  <p:stCondLst>
                                    <p:cond delay="15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15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15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par>
                          <p:cTn id="51" fill="hold">
                            <p:stCondLst>
                              <p:cond delay="3250"/>
                            </p:stCondLst>
                            <p:childTnLst>
                              <p:par>
                                <p:cTn id="52" presetID="10" presetClass="entr" presetSubtype="0" fill="hold" grpId="0" nodeType="afterEffect">
                                  <p:stCondLst>
                                    <p:cond delay="15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5" presetID="10" presetClass="entr" presetSubtype="0" fill="hold" grpId="0" nodeType="withEffect">
                                  <p:stCondLst>
                                    <p:cond delay="15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10" presetClass="entr" presetSubtype="0" fill="hold" grpId="0" nodeType="withEffect">
                                  <p:stCondLst>
                                    <p:cond delay="15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par>
                          <p:cTn id="61" fill="hold">
                            <p:stCondLst>
                              <p:cond delay="3900"/>
                            </p:stCondLst>
                            <p:childTnLst>
                              <p:par>
                                <p:cTn id="62" presetID="10" presetClass="entr" presetSubtype="0" fill="hold" grpId="0" nodeType="afterEffect">
                                  <p:stCondLst>
                                    <p:cond delay="15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childTnLst>
                          </p:cTn>
                        </p:par>
                        <p:par>
                          <p:cTn id="65" fill="hold">
                            <p:stCondLst>
                              <p:cond delay="4550"/>
                            </p:stCondLst>
                            <p:childTnLst>
                              <p:par>
                                <p:cTn id="66" presetID="10" presetClass="entr" presetSubtype="0" fill="hold" grpId="0" nodeType="afterEffect">
                                  <p:stCondLst>
                                    <p:cond delay="35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35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07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RISK ENGINE</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800" b="1" i="0">
                <a:solidFill>
                  <a:srgbClr val="F7FAFC"/>
                </a:solidFill>
                <a:latin typeface="Aptos Display"/>
              </a:rPr>
              <a:t>A transparent, deterministic risk score</a:t>
            </a:r>
          </a:p>
        </p:txBody>
      </p:sp>
      <p:sp>
        <p:nvSpPr>
          <p:cNvPr id="14" name="Rounded Rectangle 13"/>
          <p:cNvSpPr/>
          <p:nvPr/>
        </p:nvSpPr>
        <p:spPr>
          <a:xfrm>
            <a:off x="685800" y="1417320"/>
            <a:ext cx="5532120" cy="502920"/>
          </a:xfrm>
          <a:prstGeom prst="roundRect">
            <a:avLst>
              <a:gd name="adj" fmla="val 50000"/>
            </a:avLst>
          </a:prstGeom>
          <a:solidFill>
            <a:srgbClr val="0D1524"/>
          </a:solidFill>
          <a:ln w="12700">
            <a:solidFill>
              <a:srgbClr val="FBBF24">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36192"/>
            <a:ext cx="5532120" cy="320040"/>
          </a:xfrm>
          <a:prstGeom prst="rect">
            <a:avLst/>
          </a:prstGeom>
          <a:noFill/>
        </p:spPr>
        <p:txBody>
          <a:bodyPr wrap="square" lIns="0" tIns="0" rIns="0" bIns="0" anchor="t">
            <a:spAutoFit/>
          </a:bodyPr>
          <a:lstStyle/>
          <a:p>
            <a:pPr algn="ctr">
              <a:lnSpc>
                <a:spcPct val="100000"/>
              </a:lnSpc>
            </a:pPr>
            <a:r>
              <a:rPr sz="1450" b="1" i="0">
                <a:solidFill>
                  <a:srgbClr val="FBBF24"/>
                </a:solidFill>
                <a:latin typeface="Aptos"/>
              </a:rPr>
              <a:t>score = min( Σ triggered factor points , 100 )</a:t>
            </a:r>
          </a:p>
        </p:txBody>
      </p:sp>
      <p:sp>
        <p:nvSpPr>
          <p:cNvPr id="16" name="Rounded Rectangle 15"/>
          <p:cNvSpPr/>
          <p:nvPr/>
        </p:nvSpPr>
        <p:spPr>
          <a:xfrm>
            <a:off x="685800" y="2148840"/>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2176272"/>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External network</a:t>
            </a:r>
          </a:p>
        </p:txBody>
      </p:sp>
      <p:sp>
        <p:nvSpPr>
          <p:cNvPr id="18" name="TextBox 17"/>
          <p:cNvSpPr txBox="1"/>
          <p:nvPr/>
        </p:nvSpPr>
        <p:spPr>
          <a:xfrm>
            <a:off x="5074920" y="2176272"/>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+40</a:t>
            </a:r>
          </a:p>
        </p:txBody>
      </p:sp>
      <p:sp>
        <p:nvSpPr>
          <p:cNvPr id="19" name="Rounded Rectangle 18"/>
          <p:cNvSpPr/>
          <p:nvPr/>
        </p:nvSpPr>
        <p:spPr>
          <a:xfrm>
            <a:off x="685800" y="2528316"/>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2555748"/>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RESTRICTED resource</a:t>
            </a:r>
          </a:p>
        </p:txBody>
      </p:sp>
      <p:sp>
        <p:nvSpPr>
          <p:cNvPr id="21" name="TextBox 20"/>
          <p:cNvSpPr txBox="1"/>
          <p:nvPr/>
        </p:nvSpPr>
        <p:spPr>
          <a:xfrm>
            <a:off x="5074920" y="2555748"/>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+40</a:t>
            </a:r>
          </a:p>
        </p:txBody>
      </p:sp>
      <p:sp>
        <p:nvSpPr>
          <p:cNvPr id="22" name="Rounded Rectangle 21"/>
          <p:cNvSpPr/>
          <p:nvPr/>
        </p:nvSpPr>
        <p:spPr>
          <a:xfrm>
            <a:off x="685800" y="2907792"/>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2935224"/>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CONFIDENTIAL resource</a:t>
            </a:r>
          </a:p>
        </p:txBody>
      </p:sp>
      <p:sp>
        <p:nvSpPr>
          <p:cNvPr id="24" name="TextBox 23"/>
          <p:cNvSpPr txBox="1"/>
          <p:nvPr/>
        </p:nvSpPr>
        <p:spPr>
          <a:xfrm>
            <a:off x="5074920" y="2935224"/>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+30</a:t>
            </a:r>
          </a:p>
        </p:txBody>
      </p:sp>
      <p:sp>
        <p:nvSpPr>
          <p:cNvPr id="25" name="Rounded Rectangle 24"/>
          <p:cNvSpPr/>
          <p:nvPr/>
        </p:nvSpPr>
        <p:spPr>
          <a:xfrm>
            <a:off x="685800" y="3287268"/>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14700"/>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Missing MFA</a:t>
            </a:r>
          </a:p>
        </p:txBody>
      </p:sp>
      <p:sp>
        <p:nvSpPr>
          <p:cNvPr id="27" name="TextBox 26"/>
          <p:cNvSpPr txBox="1"/>
          <p:nvPr/>
        </p:nvSpPr>
        <p:spPr>
          <a:xfrm>
            <a:off x="5074920" y="3314700"/>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+30</a:t>
            </a:r>
          </a:p>
        </p:txBody>
      </p:sp>
      <p:sp>
        <p:nvSpPr>
          <p:cNvPr id="28" name="Rounded Rectangle 27"/>
          <p:cNvSpPr/>
          <p:nvPr/>
        </p:nvSpPr>
        <p:spPr>
          <a:xfrm>
            <a:off x="685800" y="3666744"/>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3694176"/>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Unknown / untrusted source</a:t>
            </a:r>
          </a:p>
        </p:txBody>
      </p:sp>
      <p:sp>
        <p:nvSpPr>
          <p:cNvPr id="30" name="TextBox 29"/>
          <p:cNvSpPr txBox="1"/>
          <p:nvPr/>
        </p:nvSpPr>
        <p:spPr>
          <a:xfrm>
            <a:off x="5074920" y="3694176"/>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+20</a:t>
            </a:r>
          </a:p>
        </p:txBody>
      </p:sp>
      <p:sp>
        <p:nvSpPr>
          <p:cNvPr id="31" name="Rounded Rectangle 30"/>
          <p:cNvSpPr/>
          <p:nvPr/>
        </p:nvSpPr>
        <p:spPr>
          <a:xfrm>
            <a:off x="685800" y="4046220"/>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4073652"/>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Suspicious request</a:t>
            </a:r>
          </a:p>
        </p:txBody>
      </p:sp>
      <p:sp>
        <p:nvSpPr>
          <p:cNvPr id="33" name="TextBox 32"/>
          <p:cNvSpPr txBox="1"/>
          <p:nvPr/>
        </p:nvSpPr>
        <p:spPr>
          <a:xfrm>
            <a:off x="5074920" y="4073652"/>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+20</a:t>
            </a:r>
          </a:p>
        </p:txBody>
      </p:sp>
      <p:sp>
        <p:nvSpPr>
          <p:cNvPr id="34" name="Rounded Rectangle 33"/>
          <p:cNvSpPr/>
          <p:nvPr/>
        </p:nvSpPr>
        <p:spPr>
          <a:xfrm>
            <a:off x="685800" y="4425696"/>
            <a:ext cx="5532120" cy="306323"/>
          </a:xfrm>
          <a:prstGeom prst="roundRect">
            <a:avLst>
              <a:gd name="adj" fmla="val 18000"/>
            </a:avLst>
          </a:prstGeom>
          <a:solidFill>
            <a:srgbClr val="0D1524">
              <a:alpha val="55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4453128"/>
            <a:ext cx="3749039" cy="320040"/>
          </a:xfrm>
          <a:prstGeom prst="rect">
            <a:avLst/>
          </a:prstGeom>
          <a:noFill/>
        </p:spPr>
        <p:txBody>
          <a:bodyPr wrap="square" lIns="0" tIns="0" rIns="0" bIns="0" anchor="ctr">
            <a:spAutoFit/>
          </a:bodyPr>
          <a:lstStyle/>
          <a:p>
            <a:pPr algn="l">
              <a:lnSpc>
                <a:spcPct val="100000"/>
              </a:lnSpc>
            </a:pPr>
            <a:r>
              <a:rPr sz="1250" b="0" i="0">
                <a:solidFill>
                  <a:srgbClr val="F7FAFC"/>
                </a:solidFill>
                <a:latin typeface="Aptos"/>
              </a:rPr>
              <a:t>Repeated failed requests</a:t>
            </a:r>
          </a:p>
        </p:txBody>
      </p:sp>
      <p:sp>
        <p:nvSpPr>
          <p:cNvPr id="36" name="TextBox 35"/>
          <p:cNvSpPr txBox="1"/>
          <p:nvPr/>
        </p:nvSpPr>
        <p:spPr>
          <a:xfrm>
            <a:off x="5074920" y="4453128"/>
            <a:ext cx="1005840" cy="320040"/>
          </a:xfrm>
          <a:prstGeom prst="rect">
            <a:avLst/>
          </a:prstGeom>
          <a:noFill/>
        </p:spPr>
        <p:txBody>
          <a:bodyPr wrap="square" lIns="0" tIns="0" rIns="0" bIns="0" anchor="ctr">
            <a:spAutoFit/>
          </a:bodyPr>
          <a:lstStyle/>
          <a:p>
            <a:pPr algn="r">
              <a:lnSpc>
                <a:spcPct val="100000"/>
              </a:lnSpc>
            </a:pPr>
            <a:r>
              <a:rPr sz="1350" b="1" i="0">
                <a:solidFill>
                  <a:srgbClr val="FBBF24"/>
                </a:solidFill>
                <a:latin typeface="Aptos"/>
              </a:rPr>
              <a:t>+10</a:t>
            </a:r>
          </a:p>
        </p:txBody>
      </p:sp>
      <p:sp>
        <p:nvSpPr>
          <p:cNvPr id="37" name="TextBox 36"/>
          <p:cNvSpPr txBox="1"/>
          <p:nvPr/>
        </p:nvSpPr>
        <p:spPr>
          <a:xfrm>
            <a:off x="6537960" y="1417320"/>
            <a:ext cx="4572000" cy="365760"/>
          </a:xfrm>
          <a:prstGeom prst="rect">
            <a:avLst/>
          </a:prstGeom>
          <a:noFill/>
        </p:spPr>
        <p:txBody>
          <a:bodyPr wrap="square" lIns="0" tIns="0" rIns="0" bIns="0" anchor="t">
            <a:spAutoFit/>
          </a:bodyPr>
          <a:lstStyle/>
          <a:p>
            <a:pPr algn="l">
              <a:lnSpc>
                <a:spcPct val="100000"/>
              </a:lnSpc>
            </a:pPr>
            <a:r>
              <a:rPr sz="1300" b="1" i="0">
                <a:solidFill>
                  <a:srgbClr val="A3B1C6"/>
                </a:solidFill>
                <a:latin typeface="Aptos"/>
              </a:rPr>
              <a:t>RISK LEVELS</a:t>
            </a:r>
          </a:p>
        </p:txBody>
      </p:sp>
      <p:sp>
        <p:nvSpPr>
          <p:cNvPr id="38" name="Rounded Rectangle 37"/>
          <p:cNvSpPr/>
          <p:nvPr/>
        </p:nvSpPr>
        <p:spPr>
          <a:xfrm>
            <a:off x="6537960" y="1874519"/>
            <a:ext cx="4617720" cy="658368"/>
          </a:xfrm>
          <a:prstGeom prst="roundRect">
            <a:avLst>
              <a:gd name="adj" fmla="val 16000"/>
            </a:avLst>
          </a:prstGeom>
          <a:solidFill>
            <a:srgbClr val="0D1524"/>
          </a:solidFill>
          <a:ln w="12700">
            <a:solidFill>
              <a:srgbClr val="4ADE80">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66560" y="1975103"/>
            <a:ext cx="1463040" cy="457200"/>
          </a:xfrm>
          <a:prstGeom prst="rect">
            <a:avLst/>
          </a:prstGeom>
          <a:noFill/>
        </p:spPr>
        <p:txBody>
          <a:bodyPr wrap="square" lIns="0" tIns="0" rIns="0" bIns="0" anchor="ctr">
            <a:spAutoFit/>
          </a:bodyPr>
          <a:lstStyle/>
          <a:p>
            <a:pPr algn="l">
              <a:lnSpc>
                <a:spcPct val="100000"/>
              </a:lnSpc>
            </a:pPr>
            <a:r>
              <a:rPr sz="1500" b="1" i="0">
                <a:solidFill>
                  <a:srgbClr val="4ADE80"/>
                </a:solidFill>
                <a:latin typeface="Aptos Display"/>
              </a:rPr>
              <a:t>0 - 29</a:t>
            </a:r>
          </a:p>
        </p:txBody>
      </p:sp>
      <p:sp>
        <p:nvSpPr>
          <p:cNvPr id="40" name="TextBox 39"/>
          <p:cNvSpPr txBox="1"/>
          <p:nvPr/>
        </p:nvSpPr>
        <p:spPr>
          <a:xfrm>
            <a:off x="8366760" y="1975103"/>
            <a:ext cx="2651760" cy="457200"/>
          </a:xfrm>
          <a:prstGeom prst="rect">
            <a:avLst/>
          </a:prstGeom>
          <a:noFill/>
        </p:spPr>
        <p:txBody>
          <a:bodyPr wrap="square" lIns="0" tIns="0" rIns="0" bIns="0" anchor="ctr">
            <a:spAutoFit/>
          </a:bodyPr>
          <a:lstStyle/>
          <a:p>
            <a:pPr algn="r">
              <a:lnSpc>
                <a:spcPct val="100000"/>
              </a:lnSpc>
            </a:pPr>
            <a:r>
              <a:rPr sz="1500" b="1" i="0">
                <a:solidFill>
                  <a:srgbClr val="F7FAFC"/>
                </a:solidFill>
                <a:latin typeface="Aptos"/>
              </a:rPr>
              <a:t>LOW</a:t>
            </a:r>
          </a:p>
        </p:txBody>
      </p:sp>
      <p:sp>
        <p:nvSpPr>
          <p:cNvPr id="41" name="Rounded Rectangle 40"/>
          <p:cNvSpPr/>
          <p:nvPr/>
        </p:nvSpPr>
        <p:spPr>
          <a:xfrm>
            <a:off x="6537960" y="2660903"/>
            <a:ext cx="4617720" cy="658368"/>
          </a:xfrm>
          <a:prstGeom prst="roundRect">
            <a:avLst>
              <a:gd name="adj" fmla="val 16000"/>
            </a:avLst>
          </a:prstGeom>
          <a:solidFill>
            <a:srgbClr val="0D1524"/>
          </a:solidFill>
          <a:ln w="12700">
            <a:solidFill>
              <a:srgbClr val="FBBF24">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0" y="2761487"/>
            <a:ext cx="1463040" cy="457200"/>
          </a:xfrm>
          <a:prstGeom prst="rect">
            <a:avLst/>
          </a:prstGeom>
          <a:noFill/>
        </p:spPr>
        <p:txBody>
          <a:bodyPr wrap="square" lIns="0" tIns="0" rIns="0" bIns="0" anchor="ctr">
            <a:spAutoFit/>
          </a:bodyPr>
          <a:lstStyle/>
          <a:p>
            <a:pPr algn="l">
              <a:lnSpc>
                <a:spcPct val="100000"/>
              </a:lnSpc>
            </a:pPr>
            <a:r>
              <a:rPr sz="1500" b="1" i="0">
                <a:solidFill>
                  <a:srgbClr val="FBBF24"/>
                </a:solidFill>
                <a:latin typeface="Aptos Display"/>
              </a:rPr>
              <a:t>30 - 59</a:t>
            </a:r>
          </a:p>
        </p:txBody>
      </p:sp>
      <p:sp>
        <p:nvSpPr>
          <p:cNvPr id="43" name="TextBox 42"/>
          <p:cNvSpPr txBox="1"/>
          <p:nvPr/>
        </p:nvSpPr>
        <p:spPr>
          <a:xfrm>
            <a:off x="8366760" y="2761487"/>
            <a:ext cx="2651760" cy="457200"/>
          </a:xfrm>
          <a:prstGeom prst="rect">
            <a:avLst/>
          </a:prstGeom>
          <a:noFill/>
        </p:spPr>
        <p:txBody>
          <a:bodyPr wrap="square" lIns="0" tIns="0" rIns="0" bIns="0" anchor="ctr">
            <a:spAutoFit/>
          </a:bodyPr>
          <a:lstStyle/>
          <a:p>
            <a:pPr algn="r">
              <a:lnSpc>
                <a:spcPct val="100000"/>
              </a:lnSpc>
            </a:pPr>
            <a:r>
              <a:rPr sz="1500" b="1" i="0">
                <a:solidFill>
                  <a:srgbClr val="F7FAFC"/>
                </a:solidFill>
                <a:latin typeface="Aptos"/>
              </a:rPr>
              <a:t>MEDIUM</a:t>
            </a:r>
          </a:p>
        </p:txBody>
      </p:sp>
      <p:sp>
        <p:nvSpPr>
          <p:cNvPr id="44" name="Rounded Rectangle 43"/>
          <p:cNvSpPr/>
          <p:nvPr/>
        </p:nvSpPr>
        <p:spPr>
          <a:xfrm>
            <a:off x="6537960" y="3447287"/>
            <a:ext cx="4617720" cy="658368"/>
          </a:xfrm>
          <a:prstGeom prst="roundRect">
            <a:avLst>
              <a:gd name="adj" fmla="val 16000"/>
            </a:avLst>
          </a:prstGeom>
          <a:solidFill>
            <a:srgbClr val="0D1524"/>
          </a:solidFill>
          <a:ln w="12700">
            <a:solidFill>
              <a:srgbClr val="FB923C">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766560" y="3547871"/>
            <a:ext cx="1463040" cy="457200"/>
          </a:xfrm>
          <a:prstGeom prst="rect">
            <a:avLst/>
          </a:prstGeom>
          <a:noFill/>
        </p:spPr>
        <p:txBody>
          <a:bodyPr wrap="square" lIns="0" tIns="0" rIns="0" bIns="0" anchor="ctr">
            <a:spAutoFit/>
          </a:bodyPr>
          <a:lstStyle/>
          <a:p>
            <a:pPr algn="l">
              <a:lnSpc>
                <a:spcPct val="100000"/>
              </a:lnSpc>
            </a:pPr>
            <a:r>
              <a:rPr sz="1500" b="1" i="0">
                <a:solidFill>
                  <a:srgbClr val="FB923C"/>
                </a:solidFill>
                <a:latin typeface="Aptos Display"/>
              </a:rPr>
              <a:t>60 - 79</a:t>
            </a:r>
          </a:p>
        </p:txBody>
      </p:sp>
      <p:sp>
        <p:nvSpPr>
          <p:cNvPr id="46" name="TextBox 45"/>
          <p:cNvSpPr txBox="1"/>
          <p:nvPr/>
        </p:nvSpPr>
        <p:spPr>
          <a:xfrm>
            <a:off x="8366760" y="3547871"/>
            <a:ext cx="2651760" cy="457200"/>
          </a:xfrm>
          <a:prstGeom prst="rect">
            <a:avLst/>
          </a:prstGeom>
          <a:noFill/>
        </p:spPr>
        <p:txBody>
          <a:bodyPr wrap="square" lIns="0" tIns="0" rIns="0" bIns="0" anchor="ctr">
            <a:spAutoFit/>
          </a:bodyPr>
          <a:lstStyle/>
          <a:p>
            <a:pPr algn="r">
              <a:lnSpc>
                <a:spcPct val="100000"/>
              </a:lnSpc>
            </a:pPr>
            <a:r>
              <a:rPr sz="1500" b="1" i="0">
                <a:solidFill>
                  <a:srgbClr val="F7FAFC"/>
                </a:solidFill>
                <a:latin typeface="Aptos"/>
              </a:rPr>
              <a:t>HIGH</a:t>
            </a:r>
          </a:p>
        </p:txBody>
      </p:sp>
      <p:sp>
        <p:nvSpPr>
          <p:cNvPr id="47" name="Rounded Rectangle 46"/>
          <p:cNvSpPr/>
          <p:nvPr/>
        </p:nvSpPr>
        <p:spPr>
          <a:xfrm>
            <a:off x="6537960" y="4233672"/>
            <a:ext cx="4617720" cy="658368"/>
          </a:xfrm>
          <a:prstGeom prst="roundRect">
            <a:avLst>
              <a:gd name="adj" fmla="val 16000"/>
            </a:avLst>
          </a:prstGeom>
          <a:solidFill>
            <a:srgbClr val="0D1524"/>
          </a:solidFill>
          <a:ln w="12700">
            <a:solidFill>
              <a:srgbClr val="F87171">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766560" y="4334256"/>
            <a:ext cx="1463040" cy="457200"/>
          </a:xfrm>
          <a:prstGeom prst="rect">
            <a:avLst/>
          </a:prstGeom>
          <a:noFill/>
        </p:spPr>
        <p:txBody>
          <a:bodyPr wrap="square" lIns="0" tIns="0" rIns="0" bIns="0" anchor="ctr">
            <a:spAutoFit/>
          </a:bodyPr>
          <a:lstStyle/>
          <a:p>
            <a:pPr algn="l">
              <a:lnSpc>
                <a:spcPct val="100000"/>
              </a:lnSpc>
            </a:pPr>
            <a:r>
              <a:rPr sz="1500" b="1" i="0">
                <a:solidFill>
                  <a:srgbClr val="F87171"/>
                </a:solidFill>
                <a:latin typeface="Aptos Display"/>
              </a:rPr>
              <a:t>80 - 100</a:t>
            </a:r>
          </a:p>
        </p:txBody>
      </p:sp>
      <p:sp>
        <p:nvSpPr>
          <p:cNvPr id="49" name="TextBox 48"/>
          <p:cNvSpPr txBox="1"/>
          <p:nvPr/>
        </p:nvSpPr>
        <p:spPr>
          <a:xfrm>
            <a:off x="8366760" y="4334256"/>
            <a:ext cx="2651760" cy="457200"/>
          </a:xfrm>
          <a:prstGeom prst="rect">
            <a:avLst/>
          </a:prstGeom>
          <a:noFill/>
        </p:spPr>
        <p:txBody>
          <a:bodyPr wrap="square" lIns="0" tIns="0" rIns="0" bIns="0" anchor="ctr">
            <a:spAutoFit/>
          </a:bodyPr>
          <a:lstStyle/>
          <a:p>
            <a:pPr algn="r">
              <a:lnSpc>
                <a:spcPct val="100000"/>
              </a:lnSpc>
            </a:pPr>
            <a:r>
              <a:rPr sz="1500" b="1" i="0">
                <a:solidFill>
                  <a:srgbClr val="F7FAFC"/>
                </a:solidFill>
                <a:latin typeface="Aptos"/>
              </a:rPr>
              <a:t>CRITICAL</a:t>
            </a:r>
          </a:p>
        </p:txBody>
      </p:sp>
      <p:sp>
        <p:nvSpPr>
          <p:cNvPr id="50" name="Rounded Rectangle 49"/>
          <p:cNvSpPr/>
          <p:nvPr/>
        </p:nvSpPr>
        <p:spPr>
          <a:xfrm>
            <a:off x="6537960" y="5038344"/>
            <a:ext cx="4617720" cy="566928"/>
          </a:xfrm>
          <a:prstGeom prst="roundRect">
            <a:avLst>
              <a:gd name="adj" fmla="val 16000"/>
            </a:avLst>
          </a:prstGeom>
          <a:solidFill>
            <a:srgbClr val="0D1524">
              <a:alpha val="50000"/>
            </a:srgbClr>
          </a:solidFill>
          <a:ln w="12700">
            <a:solidFill>
              <a:srgbClr val="24355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739128" y="5138928"/>
            <a:ext cx="4206240" cy="365760"/>
          </a:xfrm>
          <a:prstGeom prst="rect">
            <a:avLst/>
          </a:prstGeom>
          <a:noFill/>
        </p:spPr>
        <p:txBody>
          <a:bodyPr wrap="square" lIns="0" tIns="0" rIns="0" bIns="0" anchor="ctr">
            <a:spAutoFit/>
          </a:bodyPr>
          <a:lstStyle/>
          <a:p>
            <a:pPr algn="l">
              <a:lnSpc>
                <a:spcPct val="100000"/>
              </a:lnSpc>
            </a:pPr>
            <a:r>
              <a:rPr sz="1150" b="0" i="1">
                <a:solidFill>
                  <a:srgbClr val="A3B1C6"/>
                </a:solidFill>
                <a:latin typeface="Aptos"/>
              </a:rPr>
              <a:t>No machine learning. Every point is a named, auditable rule.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8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8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8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par>
                          <p:cTn id="14" fill="hold">
                            <p:stCondLst>
                              <p:cond delay="580"/>
                            </p:stCondLst>
                            <p:childTnLst>
                              <p:par>
                                <p:cTn id="15" presetID="10" presetClass="entr" presetSubtype="0" fill="hold" grpId="0" nodeType="afterEffect">
                                  <p:stCondLst>
                                    <p:cond delay="8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8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8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par>
                          <p:cTn id="24" fill="hold">
                            <p:stCondLst>
                              <p:cond delay="1160"/>
                            </p:stCondLst>
                            <p:childTnLst>
                              <p:par>
                                <p:cTn id="25" presetID="10" presetClass="entr" presetSubtype="0" fill="hold" grpId="0" nodeType="afterEffect">
                                  <p:stCondLst>
                                    <p:cond delay="8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8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8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par>
                          <p:cTn id="34" fill="hold">
                            <p:stCondLst>
                              <p:cond delay="1740"/>
                            </p:stCondLst>
                            <p:childTnLst>
                              <p:par>
                                <p:cTn id="35" presetID="10" presetClass="entr" presetSubtype="0" fill="hold" grpId="0" nodeType="afterEffect">
                                  <p:stCondLst>
                                    <p:cond delay="8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par>
                                <p:cTn id="38" presetID="10" presetClass="entr" presetSubtype="0" fill="hold" grpId="0" nodeType="withEffect">
                                  <p:stCondLst>
                                    <p:cond delay="8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par>
                                <p:cTn id="41" presetID="10" presetClass="entr" presetSubtype="0" fill="hold" grpId="0" nodeType="withEffect">
                                  <p:stCondLst>
                                    <p:cond delay="8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par>
                          <p:cTn id="44" fill="hold">
                            <p:stCondLst>
                              <p:cond delay="2320"/>
                            </p:stCondLst>
                            <p:childTnLst>
                              <p:par>
                                <p:cTn id="45" presetID="10" presetClass="entr" presetSubtype="0" fill="hold" grpId="0" nodeType="afterEffect">
                                  <p:stCondLst>
                                    <p:cond delay="8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8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10" presetClass="entr" presetSubtype="0" fill="hold" grpId="0" nodeType="withEffect">
                                  <p:stCondLst>
                                    <p:cond delay="8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par>
                          <p:cTn id="54" fill="hold">
                            <p:stCondLst>
                              <p:cond delay="2900"/>
                            </p:stCondLst>
                            <p:childTnLst>
                              <p:par>
                                <p:cTn id="55" presetID="10" presetClass="entr" presetSubtype="0" fill="hold" grpId="0" nodeType="afterEffect">
                                  <p:stCondLst>
                                    <p:cond delay="8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10" presetClass="entr" presetSubtype="0" fill="hold" grpId="0" nodeType="withEffect">
                                  <p:stCondLst>
                                    <p:cond delay="8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par>
                                <p:cTn id="61" presetID="10" presetClass="entr" presetSubtype="0" fill="hold" grpId="0" nodeType="withEffect">
                                  <p:stCondLst>
                                    <p:cond delay="8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childTnLst>
                          </p:cTn>
                        </p:par>
                        <p:par>
                          <p:cTn id="64" fill="hold">
                            <p:stCondLst>
                              <p:cond delay="3480"/>
                            </p:stCondLst>
                            <p:childTnLst>
                              <p:par>
                                <p:cTn id="65" presetID="10" presetClass="entr" presetSubtype="0" fill="hold" grpId="0" nodeType="afterEffect">
                                  <p:stCondLst>
                                    <p:cond delay="8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grpId="0" nodeType="withEffect">
                                  <p:stCondLst>
                                    <p:cond delay="8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par>
                                <p:cTn id="71" presetID="10" presetClass="entr" presetSubtype="0" fill="hold" grpId="0" nodeType="withEffect">
                                  <p:stCondLst>
                                    <p:cond delay="8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childTnLst>
                          </p:cTn>
                        </p:par>
                        <p:par>
                          <p:cTn id="74" fill="hold">
                            <p:stCondLst>
                              <p:cond delay="4060"/>
                            </p:stCondLst>
                            <p:childTnLst>
                              <p:par>
                                <p:cTn id="75" presetID="10" presetClass="entr" presetSubtype="0" fill="hold" grpId="0" nodeType="afterEffect">
                                  <p:stCondLst>
                                    <p:cond delay="10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78" presetID="10" presetClass="entr" presetSubtype="0" fill="hold" grpId="0" nodeType="withEffect">
                                  <p:stCondLst>
                                    <p:cond delay="10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par>
                                <p:cTn id="81" presetID="10" presetClass="entr" presetSubtype="0" fill="hold" grpId="0" nodeType="withEffect">
                                  <p:stCondLst>
                                    <p:cond delay="10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childTnLst>
                          </p:cTn>
                        </p:par>
                        <p:par>
                          <p:cTn id="84" fill="hold">
                            <p:stCondLst>
                              <p:cond delay="4660"/>
                            </p:stCondLst>
                            <p:childTnLst>
                              <p:par>
                                <p:cTn id="85" presetID="10" presetClass="entr" presetSubtype="0" fill="hold" grpId="0" nodeType="afterEffect">
                                  <p:stCondLst>
                                    <p:cond delay="10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par>
                                <p:cTn id="88" presetID="10" presetClass="entr" presetSubtype="0" fill="hold" grpId="0" nodeType="withEffect">
                                  <p:stCondLst>
                                    <p:cond delay="10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500"/>
                                        <p:tgtEl>
                                          <p:spTgt spid="42"/>
                                        </p:tgtEl>
                                      </p:cBhvr>
                                    </p:animEffect>
                                  </p:childTnLst>
                                </p:cTn>
                              </p:par>
                              <p:par>
                                <p:cTn id="91" presetID="10" presetClass="entr" presetSubtype="0" fill="hold" grpId="0" nodeType="withEffect">
                                  <p:stCondLst>
                                    <p:cond delay="100"/>
                                  </p:stCondLst>
                                  <p:childTnLst>
                                    <p:set>
                                      <p:cBhvr>
                                        <p:cTn id="92" dur="1" fill="hold">
                                          <p:stCondLst>
                                            <p:cond delay="0"/>
                                          </p:stCondLst>
                                        </p:cTn>
                                        <p:tgtEl>
                                          <p:spTgt spid="43"/>
                                        </p:tgtEl>
                                        <p:attrNameLst>
                                          <p:attrName>style.visibility</p:attrName>
                                        </p:attrNameLst>
                                      </p:cBhvr>
                                      <p:to>
                                        <p:strVal val="visible"/>
                                      </p:to>
                                    </p:set>
                                    <p:animEffect transition="in" filter="fade">
                                      <p:cBhvr>
                                        <p:cTn id="93" dur="500"/>
                                        <p:tgtEl>
                                          <p:spTgt spid="43"/>
                                        </p:tgtEl>
                                      </p:cBhvr>
                                    </p:animEffect>
                                  </p:childTnLst>
                                </p:cTn>
                              </p:par>
                            </p:childTnLst>
                          </p:cTn>
                        </p:par>
                        <p:par>
                          <p:cTn id="94" fill="hold">
                            <p:stCondLst>
                              <p:cond delay="5260"/>
                            </p:stCondLst>
                            <p:childTnLst>
                              <p:par>
                                <p:cTn id="95" presetID="10" presetClass="entr" presetSubtype="0" fill="hold" grpId="0" nodeType="afterEffect">
                                  <p:stCondLst>
                                    <p:cond delay="10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500"/>
                                        <p:tgtEl>
                                          <p:spTgt spid="44"/>
                                        </p:tgtEl>
                                      </p:cBhvr>
                                    </p:animEffect>
                                  </p:childTnLst>
                                </p:cTn>
                              </p:par>
                              <p:par>
                                <p:cTn id="98" presetID="10" presetClass="entr" presetSubtype="0" fill="hold" grpId="0" nodeType="withEffect">
                                  <p:stCondLst>
                                    <p:cond delay="10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500"/>
                                        <p:tgtEl>
                                          <p:spTgt spid="45"/>
                                        </p:tgtEl>
                                      </p:cBhvr>
                                    </p:animEffect>
                                  </p:childTnLst>
                                </p:cTn>
                              </p:par>
                              <p:par>
                                <p:cTn id="101" presetID="10" presetClass="entr" presetSubtype="0" fill="hold" grpId="0" nodeType="withEffect">
                                  <p:stCondLst>
                                    <p:cond delay="10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500"/>
                                        <p:tgtEl>
                                          <p:spTgt spid="46"/>
                                        </p:tgtEl>
                                      </p:cBhvr>
                                    </p:animEffect>
                                  </p:childTnLst>
                                </p:cTn>
                              </p:par>
                            </p:childTnLst>
                          </p:cTn>
                        </p:par>
                        <p:par>
                          <p:cTn id="104" fill="hold">
                            <p:stCondLst>
                              <p:cond delay="5860"/>
                            </p:stCondLst>
                            <p:childTnLst>
                              <p:par>
                                <p:cTn id="105" presetID="10" presetClass="entr" presetSubtype="0" fill="hold" grpId="0" nodeType="afterEffect">
                                  <p:stCondLst>
                                    <p:cond delay="10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500"/>
                                        <p:tgtEl>
                                          <p:spTgt spid="47"/>
                                        </p:tgtEl>
                                      </p:cBhvr>
                                    </p:animEffect>
                                  </p:childTnLst>
                                </p:cTn>
                              </p:par>
                              <p:par>
                                <p:cTn id="108" presetID="10" presetClass="entr" presetSubtype="0" fill="hold" grpId="0" nodeType="withEffect">
                                  <p:stCondLst>
                                    <p:cond delay="10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500"/>
                                        <p:tgtEl>
                                          <p:spTgt spid="48"/>
                                        </p:tgtEl>
                                      </p:cBhvr>
                                    </p:animEffect>
                                  </p:childTnLst>
                                </p:cTn>
                              </p:par>
                              <p:par>
                                <p:cTn id="111" presetID="10" presetClass="entr" presetSubtype="0" fill="hold" grpId="0" nodeType="withEffect">
                                  <p:stCondLst>
                                    <p:cond delay="10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p:bldP spid="31" grpId="0" animBg="1"/>
      <p:bldP spid="32" grpId="0"/>
      <p:bldP spid="33" grpId="0"/>
      <p:bldP spid="34" grpId="0" animBg="1"/>
      <p:bldP spid="35" grpId="0"/>
      <p:bldP spid="36" grpId="0"/>
      <p:bldP spid="38" grpId="0" animBg="1"/>
      <p:bldP spid="39" grpId="0"/>
      <p:bldP spid="40" grpId="0"/>
      <p:bldP spid="41" grpId="0" animBg="1"/>
      <p:bldP spid="42" grpId="0"/>
      <p:bldP spid="43" grpId="0"/>
      <p:bldP spid="44" grpId="0" animBg="1"/>
      <p:bldP spid="45" grpId="0"/>
      <p:bldP spid="46" grpId="0"/>
      <p:bldP spid="47" grpId="0" animBg="1"/>
      <p:bldP spid="48"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9" name="TextBox 8"/>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08 / 20</a:t>
            </a:r>
          </a:p>
        </p:txBody>
      </p:sp>
      <p:sp>
        <p:nvSpPr>
          <p:cNvPr id="10" name="TextBox 9"/>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CENTRAL DEMONSTRATION</a:t>
            </a:r>
          </a:p>
        </p:txBody>
      </p:sp>
      <p:sp>
        <p:nvSpPr>
          <p:cNvPr id="11" name="Oval 10"/>
          <p:cNvSpPr/>
          <p:nvPr/>
        </p:nvSpPr>
        <p:spPr>
          <a:xfrm>
            <a:off x="1463039" y="-1097280"/>
            <a:ext cx="9144000" cy="9144000"/>
          </a:xfrm>
          <a:prstGeom prst="ellipse">
            <a:avLst/>
          </a:prstGeom>
          <a:solidFill>
            <a:srgbClr val="F87171">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731520"/>
            <a:ext cx="10515600" cy="502920"/>
          </a:xfrm>
          <a:prstGeom prst="rect">
            <a:avLst/>
          </a:prstGeom>
          <a:noFill/>
        </p:spPr>
        <p:txBody>
          <a:bodyPr wrap="square" lIns="0" tIns="0" rIns="0" bIns="0" anchor="t">
            <a:spAutoFit/>
          </a:bodyPr>
          <a:lstStyle/>
          <a:p>
            <a:pPr algn="l">
              <a:lnSpc>
                <a:spcPct val="100000"/>
              </a:lnSpc>
            </a:pPr>
            <a:r>
              <a:rPr sz="2600" b="1" i="0">
                <a:solidFill>
                  <a:srgbClr val="F7FAFC"/>
                </a:solidFill>
                <a:latin typeface="Aptos Display"/>
              </a:rPr>
              <a:t>“VALID IAM PERMISSION.”</a:t>
            </a:r>
          </a:p>
        </p:txBody>
      </p:sp>
      <p:sp>
        <p:nvSpPr>
          <p:cNvPr id="13" name="Rounded Rectangle 12"/>
          <p:cNvSpPr/>
          <p:nvPr/>
        </p:nvSpPr>
        <p:spPr>
          <a:xfrm>
            <a:off x="685800" y="1371600"/>
            <a:ext cx="6035040" cy="502920"/>
          </a:xfrm>
          <a:prstGeom prst="roundRect">
            <a:avLst>
              <a:gd name="adj" fmla="val 50000"/>
            </a:avLst>
          </a:prstGeom>
          <a:solidFill>
            <a:srgbClr val="0D1524"/>
          </a:solidFill>
          <a:ln w="12700">
            <a:solidFill>
              <a:srgbClr val="243550">
                <a:alpha val="70000"/>
              </a:srgbClr>
            </a:solid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r>
              <a:rPr sz="1400" b="1">
                <a:solidFill>
                  <a:srgbClr val="22D3EE"/>
                </a:solidFill>
                <a:latin typeface="Aptos"/>
              </a:rPr>
              <a:t>contractor01</a:t>
            </a:r>
            <a:r>
              <a:rPr sz="1400" b="0">
                <a:solidFill>
                  <a:srgbClr val="A3B1C6"/>
                </a:solidFill>
                <a:latin typeface="Aptos"/>
              </a:rPr>
              <a:t>  requests  </a:t>
            </a:r>
            <a:r>
              <a:rPr sz="1400" b="1">
                <a:solidFill>
                  <a:srgbClr val="F7FAFC"/>
                </a:solidFill>
                <a:latin typeface="Aptos"/>
              </a:rPr>
              <a:t>GetObject</a:t>
            </a:r>
            <a:r>
              <a:rPr sz="1400" b="0">
                <a:solidFill>
                  <a:srgbClr val="A3B1C6"/>
                </a:solidFill>
                <a:latin typeface="Aptos"/>
              </a:rPr>
              <a:t>  on  </a:t>
            </a:r>
            <a:r>
              <a:rPr sz="1400" b="1">
                <a:solidFill>
                  <a:srgbClr val="F7FAFC"/>
                </a:solidFill>
                <a:latin typeface="Aptos"/>
              </a:rPr>
              <a:t>financial-records</a:t>
            </a:r>
          </a:p>
        </p:txBody>
      </p:sp>
      <p:sp>
        <p:nvSpPr>
          <p:cNvPr id="14" name="Rounded Rectangle 13"/>
          <p:cNvSpPr/>
          <p:nvPr/>
        </p:nvSpPr>
        <p:spPr>
          <a:xfrm>
            <a:off x="685800" y="2103120"/>
            <a:ext cx="7315200" cy="566928"/>
          </a:xfrm>
          <a:prstGeom prst="roundRect">
            <a:avLst>
              <a:gd name="adj" fmla="val 12000"/>
            </a:avLst>
          </a:prstGeom>
          <a:solidFill>
            <a:srgbClr val="0D1524"/>
          </a:solidFill>
          <a:ln w="12700">
            <a:solidFill>
              <a:srgbClr val="4ADE80">
                <a:alpha val="70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157984"/>
            <a:ext cx="2103120" cy="320040"/>
          </a:xfrm>
          <a:prstGeom prst="rect">
            <a:avLst/>
          </a:prstGeom>
          <a:noFill/>
        </p:spPr>
        <p:txBody>
          <a:bodyPr wrap="square" lIns="0" tIns="0" rIns="0" bIns="0" anchor="ctr">
            <a:spAutoFit/>
          </a:bodyPr>
          <a:lstStyle/>
          <a:p>
            <a:pPr algn="l">
              <a:lnSpc>
                <a:spcPct val="100000"/>
              </a:lnSpc>
            </a:pPr>
            <a:r>
              <a:rPr sz="1300" b="1" i="0">
                <a:solidFill>
                  <a:srgbClr val="A3B1C6"/>
                </a:solidFill>
                <a:latin typeface="Aptos"/>
              </a:rPr>
              <a:t>IAM</a:t>
            </a:r>
          </a:p>
        </p:txBody>
      </p:sp>
      <p:sp>
        <p:nvSpPr>
          <p:cNvPr id="16" name="TextBox 15"/>
          <p:cNvSpPr txBox="1"/>
          <p:nvPr/>
        </p:nvSpPr>
        <p:spPr>
          <a:xfrm>
            <a:off x="914400" y="2414015"/>
            <a:ext cx="4846320" cy="256032"/>
          </a:xfrm>
          <a:prstGeom prst="rect">
            <a:avLst/>
          </a:prstGeom>
          <a:noFill/>
        </p:spPr>
        <p:txBody>
          <a:bodyPr wrap="square" lIns="0" tIns="0" rIns="0" bIns="0" anchor="ctr">
            <a:spAutoFit/>
          </a:bodyPr>
          <a:lstStyle/>
          <a:p>
            <a:pPr algn="l">
              <a:lnSpc>
                <a:spcPct val="100000"/>
              </a:lnSpc>
            </a:pPr>
            <a:r>
              <a:rPr sz="950" b="0" i="0">
                <a:solidFill>
                  <a:srgbClr val="64748B"/>
                </a:solidFill>
                <a:latin typeface="Aptos"/>
              </a:rPr>
              <a:t>ContractorRole genuinely holds GetObject:financial-records</a:t>
            </a:r>
          </a:p>
        </p:txBody>
      </p:sp>
      <p:sp>
        <p:nvSpPr>
          <p:cNvPr id="17" name="Rounded Rectangle 16"/>
          <p:cNvSpPr/>
          <p:nvPr/>
        </p:nvSpPr>
        <p:spPr>
          <a:xfrm>
            <a:off x="5989320" y="2203703"/>
            <a:ext cx="1783080" cy="384048"/>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50" b="1">
                <a:solidFill>
                  <a:srgbClr val="4ADE80"/>
                </a:solidFill>
                <a:latin typeface="Aptos"/>
              </a:rPr>
              <a:t>PASS</a:t>
            </a:r>
          </a:p>
        </p:txBody>
      </p:sp>
      <p:sp>
        <p:nvSpPr>
          <p:cNvPr id="18" name="Rounded Rectangle 17"/>
          <p:cNvSpPr/>
          <p:nvPr/>
        </p:nvSpPr>
        <p:spPr>
          <a:xfrm>
            <a:off x="685800" y="2761487"/>
            <a:ext cx="7315200" cy="566928"/>
          </a:xfrm>
          <a:prstGeom prst="roundRect">
            <a:avLst>
              <a:gd name="adj" fmla="val 12000"/>
            </a:avLst>
          </a:prstGeom>
          <a:solidFill>
            <a:srgbClr val="0D1524"/>
          </a:solidFill>
          <a:ln w="12700">
            <a:solidFill>
              <a:srgbClr val="F87171">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816351"/>
            <a:ext cx="2103120" cy="320040"/>
          </a:xfrm>
          <a:prstGeom prst="rect">
            <a:avLst/>
          </a:prstGeom>
          <a:noFill/>
        </p:spPr>
        <p:txBody>
          <a:bodyPr wrap="square" lIns="0" tIns="0" rIns="0" bIns="0" anchor="ctr">
            <a:spAutoFit/>
          </a:bodyPr>
          <a:lstStyle/>
          <a:p>
            <a:pPr algn="l">
              <a:lnSpc>
                <a:spcPct val="100000"/>
              </a:lnSpc>
            </a:pPr>
            <a:r>
              <a:rPr sz="1300" b="1" i="0">
                <a:solidFill>
                  <a:srgbClr val="A3B1C6"/>
                </a:solidFill>
                <a:latin typeface="Aptos"/>
              </a:rPr>
              <a:t>NETWORK / VPC</a:t>
            </a:r>
          </a:p>
        </p:txBody>
      </p:sp>
      <p:sp>
        <p:nvSpPr>
          <p:cNvPr id="20" name="TextBox 19"/>
          <p:cNvSpPr txBox="1"/>
          <p:nvPr/>
        </p:nvSpPr>
        <p:spPr>
          <a:xfrm>
            <a:off x="914400" y="3072383"/>
            <a:ext cx="4846320" cy="256032"/>
          </a:xfrm>
          <a:prstGeom prst="rect">
            <a:avLst/>
          </a:prstGeom>
          <a:noFill/>
        </p:spPr>
        <p:txBody>
          <a:bodyPr wrap="square" lIns="0" tIns="0" rIns="0" bIns="0" anchor="ctr">
            <a:spAutoFit/>
          </a:bodyPr>
          <a:lstStyle/>
          <a:p>
            <a:pPr algn="l">
              <a:lnSpc>
                <a:spcPct val="100000"/>
              </a:lnSpc>
            </a:pPr>
            <a:r>
              <a:rPr sz="950" b="0" i="0">
                <a:solidFill>
                  <a:srgbClr val="64748B"/>
                </a:solidFill>
                <a:latin typeface="Aptos"/>
              </a:rPr>
              <a:t>source = external  ≠  required vpc-finance</a:t>
            </a:r>
          </a:p>
        </p:txBody>
      </p:sp>
      <p:sp>
        <p:nvSpPr>
          <p:cNvPr id="21" name="Rounded Rectangle 20"/>
          <p:cNvSpPr/>
          <p:nvPr/>
        </p:nvSpPr>
        <p:spPr>
          <a:xfrm>
            <a:off x="5989320" y="2862071"/>
            <a:ext cx="1783080" cy="38404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50" b="1">
                <a:solidFill>
                  <a:srgbClr val="F87171"/>
                </a:solidFill>
                <a:latin typeface="Aptos"/>
              </a:rPr>
              <a:t>FAIL</a:t>
            </a:r>
          </a:p>
        </p:txBody>
      </p:sp>
      <p:sp>
        <p:nvSpPr>
          <p:cNvPr id="22" name="Rounded Rectangle 21"/>
          <p:cNvSpPr/>
          <p:nvPr/>
        </p:nvSpPr>
        <p:spPr>
          <a:xfrm>
            <a:off x="685800" y="3419855"/>
            <a:ext cx="7315200" cy="566928"/>
          </a:xfrm>
          <a:prstGeom prst="roundRect">
            <a:avLst>
              <a:gd name="adj" fmla="val 12000"/>
            </a:avLst>
          </a:prstGeom>
          <a:solidFill>
            <a:srgbClr val="0D1524"/>
          </a:solidFill>
          <a:ln w="12700">
            <a:solidFill>
              <a:srgbClr val="F87171">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3474719"/>
            <a:ext cx="2103120" cy="320040"/>
          </a:xfrm>
          <a:prstGeom prst="rect">
            <a:avLst/>
          </a:prstGeom>
          <a:noFill/>
        </p:spPr>
        <p:txBody>
          <a:bodyPr wrap="square" lIns="0" tIns="0" rIns="0" bIns="0" anchor="ctr">
            <a:spAutoFit/>
          </a:bodyPr>
          <a:lstStyle/>
          <a:p>
            <a:pPr algn="l">
              <a:lnSpc>
                <a:spcPct val="100000"/>
              </a:lnSpc>
            </a:pPr>
            <a:r>
              <a:rPr sz="1300" b="1" i="0">
                <a:solidFill>
                  <a:srgbClr val="A3B1C6"/>
                </a:solidFill>
                <a:latin typeface="Aptos"/>
              </a:rPr>
              <a:t>MFA</a:t>
            </a:r>
          </a:p>
        </p:txBody>
      </p:sp>
      <p:sp>
        <p:nvSpPr>
          <p:cNvPr id="24" name="TextBox 23"/>
          <p:cNvSpPr txBox="1"/>
          <p:nvPr/>
        </p:nvSpPr>
        <p:spPr>
          <a:xfrm>
            <a:off x="914400" y="3730751"/>
            <a:ext cx="4846320" cy="256032"/>
          </a:xfrm>
          <a:prstGeom prst="rect">
            <a:avLst/>
          </a:prstGeom>
          <a:noFill/>
        </p:spPr>
        <p:txBody>
          <a:bodyPr wrap="square" lIns="0" tIns="0" rIns="0" bIns="0" anchor="ctr">
            <a:spAutoFit/>
          </a:bodyPr>
          <a:lstStyle/>
          <a:p>
            <a:pPr algn="l">
              <a:lnSpc>
                <a:spcPct val="100000"/>
              </a:lnSpc>
            </a:pPr>
            <a:r>
              <a:rPr sz="950" b="0" i="0">
                <a:solidFill>
                  <a:srgbClr val="64748B"/>
                </a:solidFill>
                <a:latin typeface="Aptos"/>
              </a:rPr>
              <a:t>required by policy, not provided</a:t>
            </a:r>
          </a:p>
        </p:txBody>
      </p:sp>
      <p:sp>
        <p:nvSpPr>
          <p:cNvPr id="25" name="Rounded Rectangle 24"/>
          <p:cNvSpPr/>
          <p:nvPr/>
        </p:nvSpPr>
        <p:spPr>
          <a:xfrm>
            <a:off x="5989320" y="3520439"/>
            <a:ext cx="1783080" cy="38404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50" b="1">
                <a:solidFill>
                  <a:srgbClr val="F87171"/>
                </a:solidFill>
                <a:latin typeface="Aptos"/>
              </a:rPr>
              <a:t>FAIL</a:t>
            </a:r>
          </a:p>
        </p:txBody>
      </p:sp>
      <p:sp>
        <p:nvSpPr>
          <p:cNvPr id="26" name="Rounded Rectangle 25"/>
          <p:cNvSpPr/>
          <p:nvPr/>
        </p:nvSpPr>
        <p:spPr>
          <a:xfrm>
            <a:off x="685800" y="4078223"/>
            <a:ext cx="7315200" cy="566928"/>
          </a:xfrm>
          <a:prstGeom prst="roundRect">
            <a:avLst>
              <a:gd name="adj" fmla="val 12000"/>
            </a:avLst>
          </a:prstGeom>
          <a:solidFill>
            <a:srgbClr val="0D1524"/>
          </a:solidFill>
          <a:ln w="12700">
            <a:solidFill>
              <a:srgbClr val="F87171">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133087"/>
            <a:ext cx="2103120" cy="320040"/>
          </a:xfrm>
          <a:prstGeom prst="rect">
            <a:avLst/>
          </a:prstGeom>
          <a:noFill/>
        </p:spPr>
        <p:txBody>
          <a:bodyPr wrap="square" lIns="0" tIns="0" rIns="0" bIns="0" anchor="ctr">
            <a:spAutoFit/>
          </a:bodyPr>
          <a:lstStyle/>
          <a:p>
            <a:pPr algn="l">
              <a:lnSpc>
                <a:spcPct val="100000"/>
              </a:lnSpc>
            </a:pPr>
            <a:r>
              <a:rPr sz="1300" b="1" i="0">
                <a:solidFill>
                  <a:srgbClr val="A3B1C6"/>
                </a:solidFill>
                <a:latin typeface="Aptos"/>
              </a:rPr>
              <a:t>RISK</a:t>
            </a:r>
          </a:p>
        </p:txBody>
      </p:sp>
      <p:sp>
        <p:nvSpPr>
          <p:cNvPr id="28" name="TextBox 27"/>
          <p:cNvSpPr txBox="1"/>
          <p:nvPr/>
        </p:nvSpPr>
        <p:spPr>
          <a:xfrm>
            <a:off x="914400" y="4389119"/>
            <a:ext cx="4846320" cy="256032"/>
          </a:xfrm>
          <a:prstGeom prst="rect">
            <a:avLst/>
          </a:prstGeom>
          <a:noFill/>
        </p:spPr>
        <p:txBody>
          <a:bodyPr wrap="square" lIns="0" tIns="0" rIns="0" bIns="0" anchor="ctr">
            <a:spAutoFit/>
          </a:bodyPr>
          <a:lstStyle/>
          <a:p>
            <a:pPr algn="l">
              <a:lnSpc>
                <a:spcPct val="100000"/>
              </a:lnSpc>
            </a:pPr>
            <a:r>
              <a:rPr sz="950" b="0" i="0">
                <a:solidFill>
                  <a:srgbClr val="64748B"/>
                </a:solidFill>
                <a:latin typeface="Aptos"/>
              </a:rPr>
              <a:t>External network +40, CONFIDENTIAL +30, Missing MFA +30, Untrusted +20, Suspicious +20</a:t>
            </a:r>
          </a:p>
        </p:txBody>
      </p:sp>
      <p:sp>
        <p:nvSpPr>
          <p:cNvPr id="29" name="Rounded Rectangle 28"/>
          <p:cNvSpPr/>
          <p:nvPr/>
        </p:nvSpPr>
        <p:spPr>
          <a:xfrm>
            <a:off x="5989320" y="4178807"/>
            <a:ext cx="1783080" cy="38404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50" b="1">
                <a:solidFill>
                  <a:srgbClr val="F87171"/>
                </a:solidFill>
                <a:latin typeface="Aptos"/>
              </a:rPr>
              <a:t>100 / CRITICAL</a:t>
            </a:r>
          </a:p>
        </p:txBody>
      </p:sp>
      <p:sp>
        <p:nvSpPr>
          <p:cNvPr id="30" name="Rounded Rectangle 29"/>
          <p:cNvSpPr/>
          <p:nvPr/>
        </p:nvSpPr>
        <p:spPr>
          <a:xfrm>
            <a:off x="8321040" y="1371600"/>
            <a:ext cx="3154680" cy="1459527"/>
          </a:xfrm>
          <a:prstGeom prst="roundRect">
            <a:avLst>
              <a:gd name="adj" fmla="val 3000"/>
            </a:avLst>
          </a:prstGeom>
          <a:solidFill>
            <a:srgbClr val="0D1524"/>
          </a:solidFill>
          <a:ln w="12700">
            <a:solidFill>
              <a:srgbClr val="F87171">
                <a:alpha val="5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04-access-request-topic19-deny.jpg"/>
          <p:cNvPicPr>
            <a:picLocks noChangeAspect="1"/>
          </p:cNvPicPr>
          <p:nvPr/>
        </p:nvPicPr>
        <p:blipFill>
          <a:blip r:embed="rId3"/>
          <a:stretch>
            <a:fillRect/>
          </a:stretch>
        </p:blipFill>
        <p:spPr>
          <a:xfrm>
            <a:off x="8366760" y="1417320"/>
            <a:ext cx="3063240" cy="1368087"/>
          </a:xfrm>
          <a:prstGeom prst="rect">
            <a:avLst/>
          </a:prstGeom>
        </p:spPr>
      </p:pic>
      <p:sp>
        <p:nvSpPr>
          <p:cNvPr id="32" name="TextBox 31"/>
          <p:cNvSpPr txBox="1"/>
          <p:nvPr/>
        </p:nvSpPr>
        <p:spPr>
          <a:xfrm>
            <a:off x="8366760" y="2913423"/>
            <a:ext cx="3063240" cy="457200"/>
          </a:xfrm>
          <a:prstGeom prst="rect">
            <a:avLst/>
          </a:prstGeom>
          <a:noFill/>
        </p:spPr>
        <p:txBody>
          <a:bodyPr wrap="square" lIns="0" tIns="0" rIns="0" bIns="0" anchor="t">
            <a:spAutoFit/>
          </a:bodyPr>
          <a:lstStyle/>
          <a:p>
            <a:pPr algn="l">
              <a:lnSpc>
                <a:spcPct val="100000"/>
              </a:lnSpc>
            </a:pPr>
            <a:r>
              <a:rPr sz="900" b="0" i="1">
                <a:solidFill>
                  <a:srgbClr val="64748B"/>
                </a:solidFill>
                <a:latin typeface="Aptos"/>
              </a:rPr>
              <a:t>Live API response — Access Request #2 (not a mockup)</a:t>
            </a:r>
          </a:p>
        </p:txBody>
      </p:sp>
      <p:sp>
        <p:nvSpPr>
          <p:cNvPr id="33" name="Rounded Rectangle 32"/>
          <p:cNvSpPr/>
          <p:nvPr/>
        </p:nvSpPr>
        <p:spPr>
          <a:xfrm>
            <a:off x="685800" y="4828031"/>
            <a:ext cx="7315200" cy="777240"/>
          </a:xfrm>
          <a:prstGeom prst="roundRect">
            <a:avLst>
              <a:gd name="adj" fmla="val 12000"/>
            </a:avLst>
          </a:prstGeom>
          <a:solidFill>
            <a:srgbClr val="F87171">
              <a:alpha val="14000"/>
            </a:srgbClr>
          </a:solidFill>
          <a:ln w="20320">
            <a:solidFill>
              <a:srgbClr val="F8717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4956047"/>
            <a:ext cx="7315200" cy="548640"/>
          </a:xfrm>
          <a:prstGeom prst="rect">
            <a:avLst/>
          </a:prstGeom>
          <a:noFill/>
        </p:spPr>
        <p:txBody>
          <a:bodyPr wrap="square" lIns="0" tIns="0" rIns="0" bIns="0" anchor="t">
            <a:spAutoFit/>
          </a:bodyPr>
          <a:lstStyle/>
          <a:p>
            <a:pPr algn="ctr">
              <a:lnSpc>
                <a:spcPct val="100000"/>
              </a:lnSpc>
            </a:pPr>
            <a:r>
              <a:rPr sz="3000" b="1" i="0">
                <a:solidFill>
                  <a:srgbClr val="F87171"/>
                </a:solidFill>
                <a:latin typeface="Aptos Display"/>
              </a:rPr>
              <a:t>FINAL DECISION: DENIED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par>
                          <p:cTn id="39" fill="hold">
                            <p:stCondLst>
                              <p:cond delay="500"/>
                            </p:stCondLst>
                            <p:childTnLst>
                              <p:par>
                                <p:cTn id="40" presetID="10" presetClass="entr" presetSubtype="0" fill="hold" grpId="0" nodeType="afterEffect">
                                  <p:stCondLst>
                                    <p:cond delay="3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30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grpId="0" nodeType="withEffect">
                                  <p:stCondLst>
                                    <p:cond delay="30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30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par>
                          <p:cTn id="52" fill="hold">
                            <p:stCondLst>
                              <p:cond delay="1300"/>
                            </p:stCondLst>
                            <p:childTnLst>
                              <p:par>
                                <p:cTn id="53" presetID="10" presetClass="entr" presetSubtype="0" fill="hold" grpId="0" nodeType="afterEffect">
                                  <p:stCondLst>
                                    <p:cond delay="25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25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25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grpId="0" nodeType="withEffect">
                                  <p:stCondLst>
                                    <p:cond delay="25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nodeType="withEffect">
                                  <p:stCondLst>
                                    <p:cond delay="25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25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p:bldP spid="16" grpId="0"/>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2" grpId="0"/>
      <p:bldP spid="33" grpId="0" animBg="1"/>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09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WHY THIS MATTERS</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Two ways to answer “should this be allowed?”</a:t>
            </a:r>
          </a:p>
        </p:txBody>
      </p:sp>
      <p:cxnSp>
        <p:nvCxnSpPr>
          <p:cNvPr id="14" name="Connector 13"/>
          <p:cNvCxnSpPr/>
          <p:nvPr/>
        </p:nvCxnSpPr>
        <p:spPr>
          <a:xfrm>
            <a:off x="6099048" y="1600200"/>
            <a:ext cx="0" cy="4389120"/>
          </a:xfrm>
          <a:prstGeom prst="line">
            <a:avLst/>
          </a:prstGeom>
          <a:ln w="12700">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1737360"/>
            <a:ext cx="4754880" cy="365760"/>
          </a:xfrm>
          <a:prstGeom prst="rect">
            <a:avLst/>
          </a:prstGeom>
          <a:noFill/>
        </p:spPr>
        <p:txBody>
          <a:bodyPr wrap="square" lIns="0" tIns="0" rIns="0" bIns="0" anchor="t">
            <a:spAutoFit/>
          </a:bodyPr>
          <a:lstStyle/>
          <a:p>
            <a:pPr algn="l">
              <a:lnSpc>
                <a:spcPct val="100000"/>
              </a:lnSpc>
            </a:pPr>
            <a:r>
              <a:rPr sz="1400" b="1" i="0">
                <a:solidFill>
                  <a:srgbClr val="A3B1C6"/>
                </a:solidFill>
                <a:latin typeface="Aptos"/>
              </a:rPr>
              <a:t>IDENTITY-ONLY AUTHORIZATION</a:t>
            </a:r>
          </a:p>
        </p:txBody>
      </p:sp>
      <p:sp>
        <p:nvSpPr>
          <p:cNvPr id="16" name="Rounded Rectangle 15"/>
          <p:cNvSpPr/>
          <p:nvPr/>
        </p:nvSpPr>
        <p:spPr>
          <a:xfrm>
            <a:off x="1463040" y="2286000"/>
            <a:ext cx="3383280" cy="566928"/>
          </a:xfrm>
          <a:prstGeom prst="roundRect">
            <a:avLst>
              <a:gd name="adj" fmla="val 50000"/>
            </a:avLst>
          </a:prstGeom>
          <a:solidFill>
            <a:srgbClr val="0D1524"/>
          </a:solidFill>
          <a:ln w="12700">
            <a:solidFill>
              <a:srgbClr val="243550">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7FAFC"/>
                </a:solidFill>
                <a:latin typeface="Aptos"/>
              </a:rPr>
              <a:t>CREDENTIAL</a:t>
            </a:r>
          </a:p>
        </p:txBody>
      </p:sp>
      <p:sp>
        <p:nvSpPr>
          <p:cNvPr id="17" name="Chevron 16"/>
          <p:cNvSpPr/>
          <p:nvPr/>
        </p:nvSpPr>
        <p:spPr>
          <a:xfrm rot="5400000">
            <a:off x="3127248" y="2889504"/>
            <a:ext cx="146304" cy="256032"/>
          </a:xfrm>
          <a:prstGeom prst="chevron">
            <a:avLst/>
          </a:prstGeom>
          <a:solidFill>
            <a:srgbClr val="24355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463040" y="3108960"/>
            <a:ext cx="3383280" cy="566928"/>
          </a:xfrm>
          <a:prstGeom prst="roundRect">
            <a:avLst>
              <a:gd name="adj" fmla="val 50000"/>
            </a:avLst>
          </a:prstGeom>
          <a:solidFill>
            <a:srgbClr val="0D1524"/>
          </a:solidFill>
          <a:ln w="12700">
            <a:solidFill>
              <a:srgbClr val="243550">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7FAFC"/>
                </a:solidFill>
                <a:latin typeface="Aptos"/>
              </a:rPr>
              <a:t>PERMISSION</a:t>
            </a:r>
          </a:p>
        </p:txBody>
      </p:sp>
      <p:sp>
        <p:nvSpPr>
          <p:cNvPr id="19" name="Chevron 18"/>
          <p:cNvSpPr/>
          <p:nvPr/>
        </p:nvSpPr>
        <p:spPr>
          <a:xfrm rot="5400000">
            <a:off x="3127248" y="3712463"/>
            <a:ext cx="146304" cy="256032"/>
          </a:xfrm>
          <a:prstGeom prst="chevron">
            <a:avLst/>
          </a:prstGeom>
          <a:solidFill>
            <a:srgbClr val="24355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463040" y="3931920"/>
            <a:ext cx="3383280" cy="566928"/>
          </a:xfrm>
          <a:prstGeom prst="roundRect">
            <a:avLst>
              <a:gd name="adj" fmla="val 50000"/>
            </a:avLst>
          </a:prstGeom>
          <a:solidFill>
            <a:srgbClr val="0D1524"/>
          </a:solidFill>
          <a:ln w="12700">
            <a:solidFill>
              <a:srgbClr val="243550">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7FAFC"/>
                </a:solidFill>
                <a:latin typeface="Aptos"/>
              </a:rPr>
              <a:t>ACCESS</a:t>
            </a:r>
          </a:p>
        </p:txBody>
      </p:sp>
      <p:sp>
        <p:nvSpPr>
          <p:cNvPr id="21" name="TextBox 20"/>
          <p:cNvSpPr txBox="1"/>
          <p:nvPr/>
        </p:nvSpPr>
        <p:spPr>
          <a:xfrm>
            <a:off x="1463040" y="4800600"/>
            <a:ext cx="3383280" cy="457200"/>
          </a:xfrm>
          <a:prstGeom prst="rect">
            <a:avLst/>
          </a:prstGeom>
          <a:noFill/>
        </p:spPr>
        <p:txBody>
          <a:bodyPr wrap="square" lIns="0" tIns="0" rIns="0" bIns="0" anchor="t">
            <a:spAutoFit/>
          </a:bodyPr>
          <a:lstStyle/>
          <a:p>
            <a:pPr algn="ctr">
              <a:lnSpc>
                <a:spcPct val="100000"/>
              </a:lnSpc>
            </a:pPr>
            <a:r>
              <a:rPr sz="1100" b="0" i="1">
                <a:solidFill>
                  <a:srgbClr val="64748B"/>
                </a:solidFill>
                <a:latin typeface="Aptos"/>
              </a:rPr>
              <a:t>One gate. If permission exists, access follows.</a:t>
            </a:r>
          </a:p>
        </p:txBody>
      </p:sp>
      <p:sp>
        <p:nvSpPr>
          <p:cNvPr id="22" name="TextBox 21"/>
          <p:cNvSpPr txBox="1"/>
          <p:nvPr/>
        </p:nvSpPr>
        <p:spPr>
          <a:xfrm>
            <a:off x="6400800" y="1737360"/>
            <a:ext cx="4937760" cy="365760"/>
          </a:xfrm>
          <a:prstGeom prst="rect">
            <a:avLst/>
          </a:prstGeom>
          <a:noFill/>
        </p:spPr>
        <p:txBody>
          <a:bodyPr wrap="square" lIns="0" tIns="0" rIns="0" bIns="0" anchor="t">
            <a:spAutoFit/>
          </a:bodyPr>
          <a:lstStyle/>
          <a:p>
            <a:pPr algn="l">
              <a:lnSpc>
                <a:spcPct val="100000"/>
              </a:lnSpc>
            </a:pPr>
            <a:r>
              <a:rPr sz="1400" b="1" i="0">
                <a:solidFill>
                  <a:srgbClr val="22D3EE"/>
                </a:solidFill>
                <a:latin typeface="Aptos"/>
              </a:rPr>
              <a:t>CONTEXT-AWARE AUTHORIZATION</a:t>
            </a:r>
          </a:p>
        </p:txBody>
      </p:sp>
      <p:sp>
        <p:nvSpPr>
          <p:cNvPr id="23" name="Rounded Rectangle 22"/>
          <p:cNvSpPr/>
          <p:nvPr/>
        </p:nvSpPr>
        <p:spPr>
          <a:xfrm>
            <a:off x="6446520" y="2331720"/>
            <a:ext cx="914400" cy="45720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22D3EE"/>
                </a:solidFill>
                <a:latin typeface="Aptos"/>
              </a:rPr>
              <a:t>IDENTITY</a:t>
            </a:r>
          </a:p>
        </p:txBody>
      </p:sp>
      <p:sp>
        <p:nvSpPr>
          <p:cNvPr id="24" name="Rounded Rectangle 23"/>
          <p:cNvSpPr/>
          <p:nvPr/>
        </p:nvSpPr>
        <p:spPr>
          <a:xfrm>
            <a:off x="7415783" y="2331720"/>
            <a:ext cx="914400" cy="457200"/>
          </a:xfrm>
          <a:prstGeom prst="roundRect">
            <a:avLst>
              <a:gd name="adj" fmla="val 50000"/>
            </a:avLst>
          </a:prstGeom>
          <a:solidFill>
            <a:srgbClr val="3B82F6">
              <a:alpha val="16000"/>
            </a:srgbClr>
          </a:solidFill>
          <a:ln w="12700">
            <a:solidFill>
              <a:srgbClr val="3B82F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3B82F6"/>
                </a:solidFill>
                <a:latin typeface="Aptos"/>
              </a:rPr>
              <a:t>NETWORK</a:t>
            </a:r>
          </a:p>
        </p:txBody>
      </p:sp>
      <p:sp>
        <p:nvSpPr>
          <p:cNvPr id="25" name="Rounded Rectangle 24"/>
          <p:cNvSpPr/>
          <p:nvPr/>
        </p:nvSpPr>
        <p:spPr>
          <a:xfrm>
            <a:off x="8385048" y="2331720"/>
            <a:ext cx="914400" cy="457200"/>
          </a:xfrm>
          <a:prstGeom prst="roundRect">
            <a:avLst>
              <a:gd name="adj" fmla="val 50000"/>
            </a:avLst>
          </a:prstGeom>
          <a:solidFill>
            <a:srgbClr val="8B5CF6">
              <a:alpha val="16000"/>
            </a:srgbClr>
          </a:solidFill>
          <a:ln w="12700">
            <a:solidFill>
              <a:srgbClr val="8B5CF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8B5CF6"/>
                </a:solidFill>
                <a:latin typeface="Aptos"/>
              </a:rPr>
              <a:t>MFA</a:t>
            </a:r>
          </a:p>
        </p:txBody>
      </p:sp>
      <p:sp>
        <p:nvSpPr>
          <p:cNvPr id="26" name="Rounded Rectangle 25"/>
          <p:cNvSpPr/>
          <p:nvPr/>
        </p:nvSpPr>
        <p:spPr>
          <a:xfrm>
            <a:off x="9354312" y="2331720"/>
            <a:ext cx="914400" cy="457200"/>
          </a:xfrm>
          <a:prstGeom prst="roundRect">
            <a:avLst>
              <a:gd name="adj" fmla="val 50000"/>
            </a:avLst>
          </a:prstGeom>
          <a:solidFill>
            <a:srgbClr val="06B6D4">
              <a:alpha val="16000"/>
            </a:srgbClr>
          </a:solidFill>
          <a:ln w="12700">
            <a:solidFill>
              <a:srgbClr val="06B6D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06B6D4"/>
                </a:solidFill>
                <a:latin typeface="Aptos"/>
              </a:rPr>
              <a:t>POLICY</a:t>
            </a:r>
          </a:p>
        </p:txBody>
      </p:sp>
      <p:sp>
        <p:nvSpPr>
          <p:cNvPr id="27" name="Rounded Rectangle 26"/>
          <p:cNvSpPr/>
          <p:nvPr/>
        </p:nvSpPr>
        <p:spPr>
          <a:xfrm>
            <a:off x="10323576" y="2331720"/>
            <a:ext cx="914400" cy="457200"/>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BF24"/>
                </a:solidFill>
                <a:latin typeface="Aptos"/>
              </a:rPr>
              <a:t>RISK</a:t>
            </a:r>
          </a:p>
        </p:txBody>
      </p:sp>
      <p:sp>
        <p:nvSpPr>
          <p:cNvPr id="28" name="Chevron 27"/>
          <p:cNvSpPr/>
          <p:nvPr/>
        </p:nvSpPr>
        <p:spPr>
          <a:xfrm rot="5400000">
            <a:off x="8732520" y="2862072"/>
            <a:ext cx="146304" cy="256032"/>
          </a:xfrm>
          <a:prstGeom prst="chevron">
            <a:avLst/>
          </a:prstGeom>
          <a:solidFill>
            <a:srgbClr val="22D3E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772400" y="3154679"/>
            <a:ext cx="2011680" cy="566928"/>
          </a:xfrm>
          <a:prstGeom prst="roundRect">
            <a:avLst>
              <a:gd name="adj" fmla="val 50000"/>
            </a:avLst>
          </a:prstGeom>
          <a:solidFill>
            <a:srgbClr val="131E33"/>
          </a:solidFill>
          <a:ln w="12700">
            <a:solidFill>
              <a:srgbClr val="F7FAFC">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7FAFC"/>
                </a:solidFill>
                <a:latin typeface="Aptos Display"/>
              </a:rPr>
              <a:t>DECISION</a:t>
            </a:r>
          </a:p>
        </p:txBody>
      </p:sp>
      <p:sp>
        <p:nvSpPr>
          <p:cNvPr id="30" name="TextBox 29"/>
          <p:cNvSpPr txBox="1"/>
          <p:nvPr/>
        </p:nvSpPr>
        <p:spPr>
          <a:xfrm>
            <a:off x="6400800" y="3931920"/>
            <a:ext cx="4937760" cy="457200"/>
          </a:xfrm>
          <a:prstGeom prst="rect">
            <a:avLst/>
          </a:prstGeom>
          <a:noFill/>
        </p:spPr>
        <p:txBody>
          <a:bodyPr wrap="square" lIns="0" tIns="0" rIns="0" bIns="0" anchor="t">
            <a:spAutoFit/>
          </a:bodyPr>
          <a:lstStyle/>
          <a:p>
            <a:pPr algn="ctr">
              <a:lnSpc>
                <a:spcPct val="100000"/>
              </a:lnSpc>
            </a:pPr>
            <a:r>
              <a:rPr sz="1100" b="0" i="1">
                <a:solidFill>
                  <a:srgbClr val="64748B"/>
                </a:solidFill>
                <a:latin typeface="Aptos"/>
              </a:rPr>
              <a:t>Five gates. Any single failure is sufficient to deny.</a:t>
            </a:r>
          </a:p>
        </p:txBody>
      </p:sp>
      <p:cxnSp>
        <p:nvCxnSpPr>
          <p:cNvPr id="31" name="Connector 30"/>
          <p:cNvCxnSpPr/>
          <p:nvPr/>
        </p:nvCxnSpPr>
        <p:spPr>
          <a:xfrm>
            <a:off x="822960" y="5532120"/>
            <a:ext cx="1054303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5669280"/>
            <a:ext cx="10515600" cy="365760"/>
          </a:xfrm>
          <a:prstGeom prst="rect">
            <a:avLst/>
          </a:prstGeom>
          <a:noFill/>
        </p:spPr>
        <p:txBody>
          <a:bodyPr wrap="square" lIns="0" tIns="0" rIns="0" bIns="0" anchor="t">
            <a:spAutoFit/>
          </a:bodyPr>
          <a:lstStyle/>
          <a:p>
            <a:pPr algn="ctr">
              <a:lnSpc>
                <a:spcPct val="100000"/>
              </a:lnSpc>
            </a:pPr>
            <a:r>
              <a:rPr sz="1300" b="0" i="1">
                <a:solidFill>
                  <a:srgbClr val="22D3EE"/>
                </a:solidFill>
                <a:latin typeface="Aptos"/>
              </a:rPr>
              <a:t>Same identity, same permission, same resource -- the only variable that changed was context.</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10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ATTACK SIMULATOR</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Six real scenarios. Zero mocked results.</a:t>
            </a:r>
          </a:p>
        </p:txBody>
      </p:sp>
      <p:sp>
        <p:nvSpPr>
          <p:cNvPr id="14" name="Rounded Rectangle 13"/>
          <p:cNvSpPr/>
          <p:nvPr/>
        </p:nvSpPr>
        <p:spPr>
          <a:xfrm>
            <a:off x="640080" y="1417320"/>
            <a:ext cx="5897879" cy="2684680"/>
          </a:xfrm>
          <a:prstGeom prst="roundRect">
            <a:avLst>
              <a:gd name="adj" fmla="val 3000"/>
            </a:avLst>
          </a:prstGeom>
          <a:solidFill>
            <a:srgbClr val="0D1524"/>
          </a:solidFill>
          <a:ln w="12700">
            <a:solidFill>
              <a:srgbClr val="22D3EE">
                <a:alpha val="4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13-attack-simulator-landing.jpg"/>
          <p:cNvPicPr>
            <a:picLocks noChangeAspect="1"/>
          </p:cNvPicPr>
          <p:nvPr/>
        </p:nvPicPr>
        <p:blipFill>
          <a:blip r:embed="rId3"/>
          <a:stretch>
            <a:fillRect/>
          </a:stretch>
        </p:blipFill>
        <p:spPr>
          <a:xfrm>
            <a:off x="685800" y="1463040"/>
            <a:ext cx="5806440" cy="2593240"/>
          </a:xfrm>
          <a:prstGeom prst="rect">
            <a:avLst/>
          </a:prstGeom>
        </p:spPr>
      </p:pic>
      <p:sp>
        <p:nvSpPr>
          <p:cNvPr id="16" name="TextBox 15"/>
          <p:cNvSpPr txBox="1"/>
          <p:nvPr/>
        </p:nvSpPr>
        <p:spPr>
          <a:xfrm>
            <a:off x="685800" y="4193440"/>
            <a:ext cx="5806440" cy="274320"/>
          </a:xfrm>
          <a:prstGeom prst="rect">
            <a:avLst/>
          </a:prstGeom>
          <a:noFill/>
        </p:spPr>
        <p:txBody>
          <a:bodyPr wrap="square" lIns="0" tIns="0" rIns="0" bIns="0" anchor="t">
            <a:spAutoFit/>
          </a:bodyPr>
          <a:lstStyle/>
          <a:p>
            <a:pPr algn="l">
              <a:lnSpc>
                <a:spcPct val="100000"/>
              </a:lnSpc>
            </a:pPr>
            <a:r>
              <a:rPr sz="950" b="0" i="1">
                <a:solidFill>
                  <a:srgbClr val="64748B"/>
                </a:solidFill>
                <a:latin typeface="Aptos"/>
              </a:rPr>
              <a:t>Live simulation lab -- every run is a real request against the real API.</a:t>
            </a:r>
          </a:p>
        </p:txBody>
      </p:sp>
      <p:sp>
        <p:nvSpPr>
          <p:cNvPr id="17" name="Rounded Rectangle 16"/>
          <p:cNvSpPr/>
          <p:nvPr/>
        </p:nvSpPr>
        <p:spPr>
          <a:xfrm>
            <a:off x="6720840" y="148132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03720" y="148132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Legitimate Developer Access</a:t>
            </a:r>
          </a:p>
        </p:txBody>
      </p:sp>
      <p:sp>
        <p:nvSpPr>
          <p:cNvPr id="19" name="Rounded Rectangle 18"/>
          <p:cNvSpPr/>
          <p:nvPr/>
        </p:nvSpPr>
        <p:spPr>
          <a:xfrm>
            <a:off x="10241280" y="1563624"/>
            <a:ext cx="1097280" cy="310896"/>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4ADE80"/>
                </a:solidFill>
                <a:latin typeface="Aptos"/>
              </a:rPr>
              <a:t>LOW</a:t>
            </a:r>
          </a:p>
        </p:txBody>
      </p:sp>
      <p:sp>
        <p:nvSpPr>
          <p:cNvPr id="20" name="Rounded Rectangle 19"/>
          <p:cNvSpPr/>
          <p:nvPr/>
        </p:nvSpPr>
        <p:spPr>
          <a:xfrm>
            <a:off x="6720840" y="202996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03720" y="202996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Trusted Identity, Untrusted Network</a:t>
            </a:r>
          </a:p>
        </p:txBody>
      </p:sp>
      <p:sp>
        <p:nvSpPr>
          <p:cNvPr id="22" name="Rounded Rectangle 21"/>
          <p:cNvSpPr/>
          <p:nvPr/>
        </p:nvSpPr>
        <p:spPr>
          <a:xfrm>
            <a:off x="10241280" y="2112264"/>
            <a:ext cx="1097280" cy="310896"/>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87171"/>
                </a:solidFill>
                <a:latin typeface="Aptos"/>
              </a:rPr>
              <a:t>CRITICAL</a:t>
            </a:r>
          </a:p>
        </p:txBody>
      </p:sp>
      <p:sp>
        <p:nvSpPr>
          <p:cNvPr id="23" name="Rounded Rectangle 22"/>
          <p:cNvSpPr/>
          <p:nvPr/>
        </p:nvSpPr>
        <p:spPr>
          <a:xfrm>
            <a:off x="6720840" y="257860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03720" y="257860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Stolen Credential Attack</a:t>
            </a:r>
          </a:p>
        </p:txBody>
      </p:sp>
      <p:sp>
        <p:nvSpPr>
          <p:cNvPr id="25" name="Rounded Rectangle 24"/>
          <p:cNvSpPr/>
          <p:nvPr/>
        </p:nvSpPr>
        <p:spPr>
          <a:xfrm>
            <a:off x="10241280" y="2660904"/>
            <a:ext cx="1097280" cy="310896"/>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87171"/>
                </a:solidFill>
                <a:latin typeface="Aptos"/>
              </a:rPr>
              <a:t>CRITICAL</a:t>
            </a:r>
          </a:p>
        </p:txBody>
      </p:sp>
      <p:sp>
        <p:nvSpPr>
          <p:cNvPr id="26" name="Rounded Rectangle 25"/>
          <p:cNvSpPr/>
          <p:nvPr/>
        </p:nvSpPr>
        <p:spPr>
          <a:xfrm>
            <a:off x="6720840" y="312724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03720" y="312724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External Confidential Storage Access</a:t>
            </a:r>
          </a:p>
        </p:txBody>
      </p:sp>
      <p:sp>
        <p:nvSpPr>
          <p:cNvPr id="28" name="Rounded Rectangle 27"/>
          <p:cNvSpPr/>
          <p:nvPr/>
        </p:nvSpPr>
        <p:spPr>
          <a:xfrm>
            <a:off x="10241280" y="3209544"/>
            <a:ext cx="1097280" cy="310896"/>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BBF24"/>
                </a:solidFill>
                <a:latin typeface="Aptos"/>
              </a:rPr>
              <a:t>HIGH</a:t>
            </a:r>
          </a:p>
        </p:txBody>
      </p:sp>
      <p:sp>
        <p:nvSpPr>
          <p:cNvPr id="29" name="Rounded Rectangle 28"/>
          <p:cNvSpPr/>
          <p:nvPr/>
        </p:nvSpPr>
        <p:spPr>
          <a:xfrm>
            <a:off x="6720840" y="367588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03720" y="367588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Repeated Unauthorized Requests</a:t>
            </a:r>
          </a:p>
        </p:txBody>
      </p:sp>
      <p:sp>
        <p:nvSpPr>
          <p:cNvPr id="31" name="Rounded Rectangle 30"/>
          <p:cNvSpPr/>
          <p:nvPr/>
        </p:nvSpPr>
        <p:spPr>
          <a:xfrm>
            <a:off x="10241280" y="3758184"/>
            <a:ext cx="1097280" cy="310896"/>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BBF24"/>
                </a:solidFill>
                <a:latin typeface="Aptos"/>
              </a:rPr>
              <a:t>HIGH</a:t>
            </a:r>
          </a:p>
        </p:txBody>
      </p:sp>
      <p:sp>
        <p:nvSpPr>
          <p:cNvPr id="32" name="Rounded Rectangle 31"/>
          <p:cNvSpPr/>
          <p:nvPr/>
        </p:nvSpPr>
        <p:spPr>
          <a:xfrm>
            <a:off x="6720840" y="4224528"/>
            <a:ext cx="4800600" cy="475488"/>
          </a:xfrm>
          <a:prstGeom prst="roundRect">
            <a:avLst>
              <a:gd name="adj" fmla="val 16000"/>
            </a:avLst>
          </a:prstGeom>
          <a:solidFill>
            <a:srgbClr val="0D1524">
              <a:alpha val="60000"/>
            </a:srgbClr>
          </a:solid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03720" y="4224528"/>
            <a:ext cx="3246120" cy="475488"/>
          </a:xfrm>
          <a:prstGeom prst="rect">
            <a:avLst/>
          </a:prstGeom>
          <a:noFill/>
        </p:spPr>
        <p:txBody>
          <a:bodyPr wrap="square" lIns="0" tIns="0" rIns="0" bIns="0" anchor="ctr">
            <a:spAutoFit/>
          </a:bodyPr>
          <a:lstStyle/>
          <a:p>
            <a:pPr algn="l">
              <a:lnSpc>
                <a:spcPct val="100000"/>
              </a:lnSpc>
            </a:pPr>
            <a:r>
              <a:rPr sz="1150" b="0" i="0">
                <a:solidFill>
                  <a:srgbClr val="F7FAFC"/>
                </a:solidFill>
                <a:latin typeface="Aptos"/>
              </a:rPr>
              <a:t>Privilege Escalation Attempt</a:t>
            </a:r>
          </a:p>
        </p:txBody>
      </p:sp>
      <p:sp>
        <p:nvSpPr>
          <p:cNvPr id="34" name="Rounded Rectangle 33"/>
          <p:cNvSpPr/>
          <p:nvPr/>
        </p:nvSpPr>
        <p:spPr>
          <a:xfrm>
            <a:off x="10241280" y="4306824"/>
            <a:ext cx="1097280" cy="310896"/>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87171"/>
                </a:solidFill>
                <a:latin typeface="Aptos"/>
              </a:rPr>
              <a:t>CRITICAL</a:t>
            </a:r>
          </a:p>
        </p:txBody>
      </p:sp>
      <p:sp>
        <p:nvSpPr>
          <p:cNvPr id="35" name="Rounded Rectangle 34"/>
          <p:cNvSpPr/>
          <p:nvPr/>
        </p:nvSpPr>
        <p:spPr>
          <a:xfrm>
            <a:off x="795528" y="5349240"/>
            <a:ext cx="2011680" cy="36576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2D3EE"/>
                </a:solidFill>
                <a:latin typeface="Aptos"/>
              </a:rPr>
              <a:t>SIMULATOR</a:t>
            </a:r>
          </a:p>
        </p:txBody>
      </p:sp>
      <p:sp>
        <p:nvSpPr>
          <p:cNvPr id="36" name="Chevron 35"/>
          <p:cNvSpPr/>
          <p:nvPr/>
        </p:nvSpPr>
        <p:spPr>
          <a:xfrm>
            <a:off x="2756916" y="545896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2944368" y="5349240"/>
            <a:ext cx="2011680" cy="36576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2D3EE"/>
                </a:solidFill>
                <a:latin typeface="Aptos"/>
              </a:rPr>
              <a:t>REAL API</a:t>
            </a:r>
          </a:p>
        </p:txBody>
      </p:sp>
      <p:sp>
        <p:nvSpPr>
          <p:cNvPr id="38" name="Chevron 37"/>
          <p:cNvSpPr/>
          <p:nvPr/>
        </p:nvSpPr>
        <p:spPr>
          <a:xfrm>
            <a:off x="4905756" y="545896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093208" y="5349240"/>
            <a:ext cx="2011680" cy="36576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2D3EE"/>
                </a:solidFill>
                <a:latin typeface="Aptos"/>
              </a:rPr>
              <a:t>REAL PIPELINE</a:t>
            </a:r>
          </a:p>
        </p:txBody>
      </p:sp>
      <p:sp>
        <p:nvSpPr>
          <p:cNvPr id="40" name="Chevron 39"/>
          <p:cNvSpPr/>
          <p:nvPr/>
        </p:nvSpPr>
        <p:spPr>
          <a:xfrm>
            <a:off x="7054596" y="545896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7242048" y="5349240"/>
            <a:ext cx="2011680" cy="36576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2D3EE"/>
                </a:solidFill>
                <a:latin typeface="Aptos"/>
              </a:rPr>
              <a:t>REAL DB RECORD</a:t>
            </a:r>
          </a:p>
        </p:txBody>
      </p:sp>
      <p:sp>
        <p:nvSpPr>
          <p:cNvPr id="42" name="Chevron 41"/>
          <p:cNvSpPr/>
          <p:nvPr/>
        </p:nvSpPr>
        <p:spPr>
          <a:xfrm>
            <a:off x="9203436" y="5458968"/>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390888" y="5349240"/>
            <a:ext cx="2011680" cy="36576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2D3EE"/>
                </a:solidFill>
                <a:latin typeface="Aptos"/>
              </a:rPr>
              <a:t>SECURITY EVENT / ALERT</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11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DYNAMIC POLICY, LIVE</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500" b="1" i="0">
                <a:solidFill>
                  <a:srgbClr val="F7FAFC"/>
                </a:solidFill>
                <a:latin typeface="Aptos Display"/>
              </a:rPr>
              <a:t>The same request. A policy changed underneath it.</a:t>
            </a:r>
          </a:p>
        </p:txBody>
      </p:sp>
      <p:sp>
        <p:nvSpPr>
          <p:cNvPr id="14" name="Rounded Rectangle 13"/>
          <p:cNvSpPr/>
          <p:nvPr/>
        </p:nvSpPr>
        <p:spPr>
          <a:xfrm>
            <a:off x="685800" y="1463040"/>
            <a:ext cx="3246120" cy="3931920"/>
          </a:xfrm>
          <a:prstGeom prst="roundRect">
            <a:avLst>
              <a:gd name="adj" fmla="val 10000"/>
            </a:avLst>
          </a:prstGeom>
          <a:solidFill>
            <a:srgbClr val="0D1524"/>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1645920"/>
            <a:ext cx="2788920" cy="320040"/>
          </a:xfrm>
          <a:prstGeom prst="rect">
            <a:avLst/>
          </a:prstGeom>
          <a:noFill/>
        </p:spPr>
        <p:txBody>
          <a:bodyPr wrap="square" lIns="0" tIns="0" rIns="0" bIns="0" anchor="t">
            <a:spAutoFit/>
          </a:bodyPr>
          <a:lstStyle/>
          <a:p>
            <a:pPr algn="l">
              <a:lnSpc>
                <a:spcPct val="100000"/>
              </a:lnSpc>
            </a:pPr>
            <a:r>
              <a:rPr sz="1300" b="1" i="0">
                <a:solidFill>
                  <a:srgbClr val="F87171"/>
                </a:solidFill>
                <a:latin typeface="Aptos"/>
              </a:rPr>
              <a:t>BEFORE</a:t>
            </a:r>
          </a:p>
        </p:txBody>
      </p:sp>
      <p:sp>
        <p:nvSpPr>
          <p:cNvPr id="16" name="Rounded Rectangle 15"/>
          <p:cNvSpPr/>
          <p:nvPr/>
        </p:nvSpPr>
        <p:spPr>
          <a:xfrm>
            <a:off x="914400" y="2057400"/>
            <a:ext cx="2788920" cy="365760"/>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A3B1C6"/>
                </a:solidFill>
                <a:latin typeface="Aptos"/>
              </a:rPr>
              <a:t>trusted_vpc = vpc-finance</a:t>
            </a:r>
          </a:p>
        </p:txBody>
      </p:sp>
      <p:sp>
        <p:nvSpPr>
          <p:cNvPr id="17" name="TextBox 16"/>
          <p:cNvSpPr txBox="1"/>
          <p:nvPr/>
        </p:nvSpPr>
        <p:spPr>
          <a:xfrm>
            <a:off x="914400" y="2606040"/>
            <a:ext cx="2788920" cy="320040"/>
          </a:xfrm>
          <a:prstGeom prst="rect">
            <a:avLst/>
          </a:prstGeom>
          <a:noFill/>
        </p:spPr>
        <p:txBody>
          <a:bodyPr wrap="square" lIns="0" tIns="0" rIns="0" bIns="0" anchor="t">
            <a:spAutoFit/>
          </a:bodyPr>
          <a:lstStyle/>
          <a:p>
            <a:pPr algn="l">
              <a:lnSpc>
                <a:spcPct val="100000"/>
              </a:lnSpc>
            </a:pPr>
            <a:r>
              <a:rPr sz="1200" b="0" i="0">
                <a:solidFill>
                  <a:srgbClr val="A3B1C6"/>
                </a:solidFill>
                <a:latin typeface="Aptos"/>
              </a:rPr>
              <a:t>Request from external</a:t>
            </a:r>
          </a:p>
        </p:txBody>
      </p:sp>
      <p:sp>
        <p:nvSpPr>
          <p:cNvPr id="18" name="Chevron 17"/>
          <p:cNvSpPr/>
          <p:nvPr/>
        </p:nvSpPr>
        <p:spPr>
          <a:xfrm rot="5400000">
            <a:off x="2235708" y="2971800"/>
            <a:ext cx="146304" cy="256032"/>
          </a:xfrm>
          <a:prstGeom prst="chevron">
            <a:avLst/>
          </a:prstGeom>
          <a:solidFill>
            <a:srgbClr val="24355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463040" y="3291840"/>
            <a:ext cx="1691640" cy="457200"/>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87171"/>
                </a:solidFill>
                <a:latin typeface="Aptos"/>
              </a:rPr>
              <a:t>DENY</a:t>
            </a:r>
          </a:p>
        </p:txBody>
      </p:sp>
      <p:sp>
        <p:nvSpPr>
          <p:cNvPr id="20" name="Rounded Rectangle 19"/>
          <p:cNvSpPr/>
          <p:nvPr/>
        </p:nvSpPr>
        <p:spPr>
          <a:xfrm>
            <a:off x="822959" y="3931920"/>
            <a:ext cx="2971800" cy="1377850"/>
          </a:xfrm>
          <a:prstGeom prst="roundRect">
            <a:avLst>
              <a:gd name="adj" fmla="val 3000"/>
            </a:avLst>
          </a:prstGeom>
          <a:solidFill>
            <a:srgbClr val="0D1524"/>
          </a:solidFill>
          <a:ln w="12700">
            <a:solidFill>
              <a:srgbClr val="F8717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04-access-request-topic19-deny.jpg"/>
          <p:cNvPicPr>
            <a:picLocks noChangeAspect="1"/>
          </p:cNvPicPr>
          <p:nvPr/>
        </p:nvPicPr>
        <p:blipFill>
          <a:blip r:embed="rId3"/>
          <a:stretch>
            <a:fillRect/>
          </a:stretch>
        </p:blipFill>
        <p:spPr>
          <a:xfrm>
            <a:off x="868680" y="3977639"/>
            <a:ext cx="2880360" cy="1286410"/>
          </a:xfrm>
          <a:prstGeom prst="rect">
            <a:avLst/>
          </a:prstGeom>
        </p:spPr>
      </p:pic>
      <p:sp>
        <p:nvSpPr>
          <p:cNvPr id="22" name="TextBox 21"/>
          <p:cNvSpPr txBox="1"/>
          <p:nvPr/>
        </p:nvSpPr>
        <p:spPr>
          <a:xfrm>
            <a:off x="4251959" y="1554480"/>
            <a:ext cx="3566160" cy="365760"/>
          </a:xfrm>
          <a:prstGeom prst="rect">
            <a:avLst/>
          </a:prstGeom>
          <a:noFill/>
        </p:spPr>
        <p:txBody>
          <a:bodyPr wrap="square" lIns="0" tIns="0" rIns="0" bIns="0" anchor="t">
            <a:spAutoFit/>
          </a:bodyPr>
          <a:lstStyle/>
          <a:p>
            <a:pPr algn="ctr">
              <a:lnSpc>
                <a:spcPct val="100000"/>
              </a:lnSpc>
            </a:pPr>
            <a:r>
              <a:rPr sz="1250" b="1" i="0">
                <a:solidFill>
                  <a:srgbClr val="22D3EE"/>
                </a:solidFill>
                <a:latin typeface="Aptos"/>
              </a:rPr>
              <a:t>ADMINISTRATOR EDITS POLICY</a:t>
            </a:r>
          </a:p>
        </p:txBody>
      </p:sp>
      <p:sp>
        <p:nvSpPr>
          <p:cNvPr id="23" name="Rounded Rectangle 22"/>
          <p:cNvSpPr/>
          <p:nvPr/>
        </p:nvSpPr>
        <p:spPr>
          <a:xfrm>
            <a:off x="4206240" y="1920240"/>
            <a:ext cx="3657600" cy="1684139"/>
          </a:xfrm>
          <a:prstGeom prst="roundRect">
            <a:avLst>
              <a:gd name="adj" fmla="val 3000"/>
            </a:avLst>
          </a:prstGeom>
          <a:solidFill>
            <a:srgbClr val="0D1524"/>
          </a:solidFill>
          <a:ln w="12700">
            <a:solidFill>
              <a:srgbClr val="22D3EE">
                <a:alpha val="5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12-policy-editor-financial-records.jpg"/>
          <p:cNvPicPr>
            <a:picLocks noChangeAspect="1"/>
          </p:cNvPicPr>
          <p:nvPr/>
        </p:nvPicPr>
        <p:blipFill>
          <a:blip r:embed="rId4"/>
          <a:stretch>
            <a:fillRect/>
          </a:stretch>
        </p:blipFill>
        <p:spPr>
          <a:xfrm>
            <a:off x="4251959" y="1965960"/>
            <a:ext cx="3566160" cy="1592699"/>
          </a:xfrm>
          <a:prstGeom prst="rect">
            <a:avLst/>
          </a:prstGeom>
        </p:spPr>
      </p:pic>
      <p:sp>
        <p:nvSpPr>
          <p:cNvPr id="25" name="Rounded Rectangle 24"/>
          <p:cNvSpPr/>
          <p:nvPr/>
        </p:nvSpPr>
        <p:spPr>
          <a:xfrm>
            <a:off x="4434840" y="3787259"/>
            <a:ext cx="1417320" cy="384048"/>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A3B1C6"/>
                </a:solidFill>
                <a:latin typeface="Aptos"/>
              </a:rPr>
              <a:t>vpc-finance</a:t>
            </a:r>
          </a:p>
        </p:txBody>
      </p:sp>
      <p:sp>
        <p:nvSpPr>
          <p:cNvPr id="26" name="Chevron 25"/>
          <p:cNvSpPr/>
          <p:nvPr/>
        </p:nvSpPr>
        <p:spPr>
          <a:xfrm>
            <a:off x="5943600" y="3896987"/>
            <a:ext cx="292608" cy="146304"/>
          </a:xfrm>
          <a:prstGeom prst="chevron">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217919" y="3787259"/>
            <a:ext cx="1600200" cy="384048"/>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22D3EE"/>
                </a:solidFill>
                <a:latin typeface="Aptos"/>
              </a:rPr>
              <a:t>vpc-development</a:t>
            </a:r>
          </a:p>
        </p:txBody>
      </p:sp>
      <p:sp>
        <p:nvSpPr>
          <p:cNvPr id="28" name="Rounded Rectangle 27"/>
          <p:cNvSpPr/>
          <p:nvPr/>
        </p:nvSpPr>
        <p:spPr>
          <a:xfrm>
            <a:off x="4389120" y="4317611"/>
            <a:ext cx="1691640" cy="365760"/>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A3B1C6"/>
                </a:solidFill>
                <a:latin typeface="Aptos"/>
              </a:rPr>
              <a:t>NO CODE CHANGE</a:t>
            </a:r>
          </a:p>
        </p:txBody>
      </p:sp>
      <p:sp>
        <p:nvSpPr>
          <p:cNvPr id="29" name="Rounded Rectangle 28"/>
          <p:cNvSpPr/>
          <p:nvPr/>
        </p:nvSpPr>
        <p:spPr>
          <a:xfrm>
            <a:off x="6126479" y="4317611"/>
            <a:ext cx="1691640" cy="365760"/>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A3B1C6"/>
                </a:solidFill>
                <a:latin typeface="Aptos"/>
              </a:rPr>
              <a:t>NO RESTART</a:t>
            </a:r>
          </a:p>
        </p:txBody>
      </p:sp>
      <p:sp>
        <p:nvSpPr>
          <p:cNvPr id="30" name="Rounded Rectangle 29"/>
          <p:cNvSpPr/>
          <p:nvPr/>
        </p:nvSpPr>
        <p:spPr>
          <a:xfrm>
            <a:off x="8138159" y="1463040"/>
            <a:ext cx="3364992" cy="3931920"/>
          </a:xfrm>
          <a:prstGeom prst="roundRect">
            <a:avLst>
              <a:gd name="adj" fmla="val 10000"/>
            </a:avLst>
          </a:prstGeom>
          <a:solidFill>
            <a:srgbClr val="0D1524"/>
          </a:solidFill>
          <a:ln w="12700">
            <a:solidFill>
              <a:srgbClr val="4ADE8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59" y="1645920"/>
            <a:ext cx="2907792" cy="320040"/>
          </a:xfrm>
          <a:prstGeom prst="rect">
            <a:avLst/>
          </a:prstGeom>
          <a:noFill/>
        </p:spPr>
        <p:txBody>
          <a:bodyPr wrap="square" lIns="0" tIns="0" rIns="0" bIns="0" anchor="t">
            <a:spAutoFit/>
          </a:bodyPr>
          <a:lstStyle/>
          <a:p>
            <a:pPr algn="l">
              <a:lnSpc>
                <a:spcPct val="100000"/>
              </a:lnSpc>
            </a:pPr>
            <a:r>
              <a:rPr sz="1300" b="1" i="0">
                <a:solidFill>
                  <a:srgbClr val="4ADE80"/>
                </a:solidFill>
                <a:latin typeface="Aptos"/>
              </a:rPr>
              <a:t>AFTER</a:t>
            </a:r>
          </a:p>
        </p:txBody>
      </p:sp>
      <p:sp>
        <p:nvSpPr>
          <p:cNvPr id="32" name="Rounded Rectangle 31"/>
          <p:cNvSpPr/>
          <p:nvPr/>
        </p:nvSpPr>
        <p:spPr>
          <a:xfrm>
            <a:off x="8366759" y="2057400"/>
            <a:ext cx="2907792" cy="365760"/>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A3B1C6"/>
                </a:solidFill>
                <a:latin typeface="Aptos"/>
              </a:rPr>
              <a:t>same identity · same resource</a:t>
            </a:r>
          </a:p>
        </p:txBody>
      </p:sp>
      <p:sp>
        <p:nvSpPr>
          <p:cNvPr id="33" name="TextBox 32"/>
          <p:cNvSpPr txBox="1"/>
          <p:nvPr/>
        </p:nvSpPr>
        <p:spPr>
          <a:xfrm>
            <a:off x="8366759" y="2560320"/>
            <a:ext cx="1005840" cy="292608"/>
          </a:xfrm>
          <a:prstGeom prst="rect">
            <a:avLst/>
          </a:prstGeom>
          <a:noFill/>
        </p:spPr>
        <p:txBody>
          <a:bodyPr wrap="square" lIns="0" tIns="0" rIns="0" bIns="0" anchor="ctr">
            <a:spAutoFit/>
          </a:bodyPr>
          <a:lstStyle/>
          <a:p>
            <a:pPr algn="l">
              <a:lnSpc>
                <a:spcPct val="100000"/>
              </a:lnSpc>
            </a:pPr>
            <a:r>
              <a:rPr sz="1100" b="1" i="0">
                <a:solidFill>
                  <a:srgbClr val="A3B1C6"/>
                </a:solidFill>
                <a:latin typeface="Aptos"/>
              </a:rPr>
              <a:t>IAM</a:t>
            </a:r>
          </a:p>
        </p:txBody>
      </p:sp>
      <p:sp>
        <p:nvSpPr>
          <p:cNvPr id="34" name="Rounded Rectangle 33"/>
          <p:cNvSpPr/>
          <p:nvPr/>
        </p:nvSpPr>
        <p:spPr>
          <a:xfrm>
            <a:off x="9372599" y="2542032"/>
            <a:ext cx="1901952" cy="347472"/>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35" name="TextBox 34"/>
          <p:cNvSpPr txBox="1"/>
          <p:nvPr/>
        </p:nvSpPr>
        <p:spPr>
          <a:xfrm>
            <a:off x="8366759" y="2980944"/>
            <a:ext cx="1005840" cy="292608"/>
          </a:xfrm>
          <a:prstGeom prst="rect">
            <a:avLst/>
          </a:prstGeom>
          <a:noFill/>
        </p:spPr>
        <p:txBody>
          <a:bodyPr wrap="square" lIns="0" tIns="0" rIns="0" bIns="0" anchor="ctr">
            <a:spAutoFit/>
          </a:bodyPr>
          <a:lstStyle/>
          <a:p>
            <a:pPr algn="l">
              <a:lnSpc>
                <a:spcPct val="100000"/>
              </a:lnSpc>
            </a:pPr>
            <a:r>
              <a:rPr sz="1100" b="1" i="0">
                <a:solidFill>
                  <a:srgbClr val="A3B1C6"/>
                </a:solidFill>
                <a:latin typeface="Aptos"/>
              </a:rPr>
              <a:t>VPC</a:t>
            </a:r>
          </a:p>
        </p:txBody>
      </p:sp>
      <p:sp>
        <p:nvSpPr>
          <p:cNvPr id="36" name="Rounded Rectangle 35"/>
          <p:cNvSpPr/>
          <p:nvPr/>
        </p:nvSpPr>
        <p:spPr>
          <a:xfrm>
            <a:off x="9372599" y="2962656"/>
            <a:ext cx="1901952" cy="347472"/>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4ADE80"/>
                </a:solidFill>
                <a:latin typeface="Aptos"/>
              </a:rPr>
              <a:t>PASS</a:t>
            </a:r>
          </a:p>
        </p:txBody>
      </p:sp>
      <p:sp>
        <p:nvSpPr>
          <p:cNvPr id="37" name="TextBox 36"/>
          <p:cNvSpPr txBox="1"/>
          <p:nvPr/>
        </p:nvSpPr>
        <p:spPr>
          <a:xfrm>
            <a:off x="8366759" y="3401568"/>
            <a:ext cx="1005840" cy="292608"/>
          </a:xfrm>
          <a:prstGeom prst="rect">
            <a:avLst/>
          </a:prstGeom>
          <a:noFill/>
        </p:spPr>
        <p:txBody>
          <a:bodyPr wrap="square" lIns="0" tIns="0" rIns="0" bIns="0" anchor="ctr">
            <a:spAutoFit/>
          </a:bodyPr>
          <a:lstStyle/>
          <a:p>
            <a:pPr algn="l">
              <a:lnSpc>
                <a:spcPct val="100000"/>
              </a:lnSpc>
            </a:pPr>
            <a:r>
              <a:rPr sz="1100" b="1" i="0">
                <a:solidFill>
                  <a:srgbClr val="A3B1C6"/>
                </a:solidFill>
                <a:latin typeface="Aptos"/>
              </a:rPr>
              <a:t>RISK</a:t>
            </a:r>
          </a:p>
        </p:txBody>
      </p:sp>
      <p:sp>
        <p:nvSpPr>
          <p:cNvPr id="38" name="Rounded Rectangle 37"/>
          <p:cNvSpPr/>
          <p:nvPr/>
        </p:nvSpPr>
        <p:spPr>
          <a:xfrm>
            <a:off x="9372599" y="3383279"/>
            <a:ext cx="1901952" cy="347472"/>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BBF24"/>
                </a:solidFill>
                <a:latin typeface="Aptos"/>
              </a:rPr>
              <a:t>40 / MEDIUM</a:t>
            </a:r>
          </a:p>
        </p:txBody>
      </p:sp>
      <p:sp>
        <p:nvSpPr>
          <p:cNvPr id="39" name="Rounded Rectangle 38"/>
          <p:cNvSpPr/>
          <p:nvPr/>
        </p:nvSpPr>
        <p:spPr>
          <a:xfrm>
            <a:off x="8974836" y="3895344"/>
            <a:ext cx="1691640" cy="457200"/>
          </a:xfrm>
          <a:prstGeom prst="roundRect">
            <a:avLst>
              <a:gd name="adj" fmla="val 50000"/>
            </a:avLst>
          </a:prstGeom>
          <a:solidFill>
            <a:srgbClr val="4ADE80">
              <a:alpha val="16000"/>
            </a:srgbClr>
          </a:solidFill>
          <a:ln w="12700">
            <a:solidFill>
              <a:srgbClr val="4ADE80">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4ADE80"/>
                </a:solidFill>
                <a:latin typeface="Aptos"/>
              </a:rPr>
              <a:t>ALLOW</a:t>
            </a:r>
          </a:p>
        </p:txBody>
      </p:sp>
      <p:sp>
        <p:nvSpPr>
          <p:cNvPr id="40" name="Rounded Rectangle 39"/>
          <p:cNvSpPr/>
          <p:nvPr/>
        </p:nvSpPr>
        <p:spPr>
          <a:xfrm>
            <a:off x="8275319" y="4462272"/>
            <a:ext cx="3090672" cy="1430940"/>
          </a:xfrm>
          <a:prstGeom prst="roundRect">
            <a:avLst>
              <a:gd name="adj" fmla="val 3000"/>
            </a:avLst>
          </a:prstGeom>
          <a:solidFill>
            <a:srgbClr val="0D1524"/>
          </a:solidFill>
          <a:ln w="12700">
            <a:solidFill>
              <a:srgbClr val="4ADE8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16-access-request-dynamic-policy-allow.jpg"/>
          <p:cNvPicPr>
            <a:picLocks noChangeAspect="1"/>
          </p:cNvPicPr>
          <p:nvPr/>
        </p:nvPicPr>
        <p:blipFill>
          <a:blip r:embed="rId5"/>
          <a:stretch>
            <a:fillRect/>
          </a:stretch>
        </p:blipFill>
        <p:spPr>
          <a:xfrm>
            <a:off x="8321039" y="4507992"/>
            <a:ext cx="2999232" cy="1339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0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00"/>
                                        <p:tgtEl>
                                          <p:spTgt spid="3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par>
                                <p:cTn id="81" presetID="10"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P spid="18" grpId="0" animBg="1"/>
      <p:bldP spid="19" grpId="0" animBg="1"/>
      <p:bldP spid="22" grpId="0"/>
      <p:bldP spid="25" grpId="0" animBg="1"/>
      <p:bldP spid="26" grpId="0" animBg="1"/>
      <p:bldP spid="27" grpId="0" animBg="1"/>
      <p:bldP spid="28" grpId="0" animBg="1"/>
      <p:bldP spid="29" grpId="0" animBg="1"/>
      <p:bldP spid="30" grpId="0" animBg="1"/>
      <p:bldP spid="31" grpId="0"/>
      <p:bldP spid="32" grpId="0" animBg="1"/>
      <p:bldP spid="33" grpId="0"/>
      <p:bldP spid="34" grpId="0" animBg="1"/>
      <p:bldP spid="35" grpId="0"/>
      <p:bldP spid="36" grpId="0" animBg="1"/>
      <p:bldP spid="37" grpId="0"/>
      <p:bldP spid="38" grpId="0" animBg="1"/>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12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POLICY RESTORATION</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The boundary returns the moment it's restored</a:t>
            </a:r>
          </a:p>
        </p:txBody>
      </p:sp>
      <p:sp>
        <p:nvSpPr>
          <p:cNvPr id="14" name="Rounded Rectangle 13"/>
          <p:cNvSpPr/>
          <p:nvPr/>
        </p:nvSpPr>
        <p:spPr>
          <a:xfrm>
            <a:off x="1280160" y="1920240"/>
            <a:ext cx="2286000" cy="50292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22D3EE"/>
                </a:solidFill>
                <a:latin typeface="Aptos"/>
              </a:rPr>
              <a:t>vpc-development</a:t>
            </a:r>
          </a:p>
        </p:txBody>
      </p:sp>
      <p:sp>
        <p:nvSpPr>
          <p:cNvPr id="15" name="Chevron 14"/>
          <p:cNvSpPr/>
          <p:nvPr/>
        </p:nvSpPr>
        <p:spPr>
          <a:xfrm>
            <a:off x="3703320" y="2039112"/>
            <a:ext cx="457200" cy="201168"/>
          </a:xfrm>
          <a:prstGeom prst="chevron">
            <a:avLst/>
          </a:prstGeom>
          <a:solidFill>
            <a:srgbClr val="A3B1C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343400" y="1920240"/>
            <a:ext cx="2286000" cy="502920"/>
          </a:xfrm>
          <a:prstGeom prst="roundRect">
            <a:avLst>
              <a:gd name="adj" fmla="val 50000"/>
            </a:avLst>
          </a:prstGeom>
          <a:solidFill>
            <a:srgbClr val="F7FAFC">
              <a:alpha val="16000"/>
            </a:srgbClr>
          </a:solidFill>
          <a:ln w="12700">
            <a:solidFill>
              <a:srgbClr val="F7FAFC">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7FAFC"/>
                </a:solidFill>
                <a:latin typeface="Aptos"/>
              </a:rPr>
              <a:t>vpc-finance</a:t>
            </a:r>
          </a:p>
        </p:txBody>
      </p:sp>
      <p:sp>
        <p:nvSpPr>
          <p:cNvPr id="17" name="TextBox 16"/>
          <p:cNvSpPr txBox="1"/>
          <p:nvPr/>
        </p:nvSpPr>
        <p:spPr>
          <a:xfrm>
            <a:off x="6858000" y="1975104"/>
            <a:ext cx="4114800" cy="411480"/>
          </a:xfrm>
          <a:prstGeom prst="rect">
            <a:avLst/>
          </a:prstGeom>
          <a:noFill/>
        </p:spPr>
        <p:txBody>
          <a:bodyPr wrap="square" lIns="0" tIns="0" rIns="0" bIns="0" anchor="ctr">
            <a:spAutoFit/>
          </a:bodyPr>
          <a:lstStyle/>
          <a:p>
            <a:pPr algn="l">
              <a:lnSpc>
                <a:spcPct val="100000"/>
              </a:lnSpc>
            </a:pPr>
            <a:r>
              <a:rPr sz="1250" b="0" i="0">
                <a:solidFill>
                  <a:srgbClr val="A3B1C6"/>
                </a:solidFill>
                <a:latin typeface="Aptos"/>
              </a:rPr>
              <a:t>policy restored to its original value</a:t>
            </a:r>
          </a:p>
        </p:txBody>
      </p:sp>
      <p:sp>
        <p:nvSpPr>
          <p:cNvPr id="18" name="Chevron 17"/>
          <p:cNvSpPr/>
          <p:nvPr/>
        </p:nvSpPr>
        <p:spPr>
          <a:xfrm rot="5400000">
            <a:off x="2834640" y="2606040"/>
            <a:ext cx="146304" cy="256032"/>
          </a:xfrm>
          <a:prstGeom prst="chevron">
            <a:avLst/>
          </a:prstGeom>
          <a:solidFill>
            <a:srgbClr val="24355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280160" y="3063240"/>
            <a:ext cx="2194560" cy="502920"/>
          </a:xfrm>
          <a:prstGeom prst="roundRect">
            <a:avLst>
              <a:gd name="adj" fmla="val 50000"/>
            </a:avLst>
          </a:prstGeom>
          <a:solidFill>
            <a:srgbClr val="F7FAFC">
              <a:alpha val="16000"/>
            </a:srgbClr>
          </a:solidFill>
          <a:ln w="12700">
            <a:solidFill>
              <a:srgbClr val="F7FAFC">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7FAFC"/>
                </a:solidFill>
                <a:latin typeface="Aptos"/>
              </a:rPr>
              <a:t>EXTERNAL REQUEST</a:t>
            </a:r>
          </a:p>
        </p:txBody>
      </p:sp>
      <p:sp>
        <p:nvSpPr>
          <p:cNvPr id="20" name="Chevron 19"/>
          <p:cNvSpPr/>
          <p:nvPr/>
        </p:nvSpPr>
        <p:spPr>
          <a:xfrm>
            <a:off x="3584448" y="3200400"/>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977639" y="3063240"/>
            <a:ext cx="2194560" cy="502920"/>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87171"/>
                </a:solidFill>
                <a:latin typeface="Aptos"/>
              </a:rPr>
              <a:t>VPC FAIL</a:t>
            </a:r>
          </a:p>
        </p:txBody>
      </p:sp>
      <p:sp>
        <p:nvSpPr>
          <p:cNvPr id="22" name="Chevron 21"/>
          <p:cNvSpPr/>
          <p:nvPr/>
        </p:nvSpPr>
        <p:spPr>
          <a:xfrm>
            <a:off x="6281928" y="3200400"/>
            <a:ext cx="292608" cy="146304"/>
          </a:xfrm>
          <a:prstGeom prst="chevron">
            <a:avLst/>
          </a:prstGeom>
          <a:solidFill>
            <a:srgbClr val="24355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675120" y="3063240"/>
            <a:ext cx="2194560" cy="502920"/>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87171"/>
                </a:solidFill>
                <a:latin typeface="Aptos"/>
              </a:rPr>
              <a:t>DENY</a:t>
            </a:r>
          </a:p>
        </p:txBody>
      </p:sp>
      <p:sp>
        <p:nvSpPr>
          <p:cNvPr id="24" name="Rounded Rectangle 23"/>
          <p:cNvSpPr/>
          <p:nvPr/>
        </p:nvSpPr>
        <p:spPr>
          <a:xfrm>
            <a:off x="1234439" y="3749040"/>
            <a:ext cx="5212079" cy="2378392"/>
          </a:xfrm>
          <a:prstGeom prst="roundRect">
            <a:avLst>
              <a:gd name="adj" fmla="val 3000"/>
            </a:avLst>
          </a:prstGeom>
          <a:solidFill>
            <a:srgbClr val="0D1524"/>
          </a:solidFill>
          <a:ln w="12700">
            <a:solidFill>
              <a:srgbClr val="F87171">
                <a:alpha val="45000"/>
              </a:srgbClr>
            </a:solidFill>
          </a:ln>
          <a:effectLst>
            <a:outerShdw blurRad="228600" dist="76200"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05-access-request-policy-restored-deny.jpg"/>
          <p:cNvPicPr>
            <a:picLocks noChangeAspect="1"/>
          </p:cNvPicPr>
          <p:nvPr/>
        </p:nvPicPr>
        <p:blipFill>
          <a:blip r:embed="rId3"/>
          <a:stretch>
            <a:fillRect/>
          </a:stretch>
        </p:blipFill>
        <p:spPr>
          <a:xfrm>
            <a:off x="1280160" y="3794760"/>
            <a:ext cx="5120640" cy="2286952"/>
          </a:xfrm>
          <a:prstGeom prst="rect">
            <a:avLst/>
          </a:prstGeom>
        </p:spPr>
      </p:pic>
      <p:sp>
        <p:nvSpPr>
          <p:cNvPr id="26" name="TextBox 25"/>
          <p:cNvSpPr txBox="1"/>
          <p:nvPr/>
        </p:nvSpPr>
        <p:spPr>
          <a:xfrm>
            <a:off x="1280160" y="6154864"/>
            <a:ext cx="5120640" cy="274320"/>
          </a:xfrm>
          <a:prstGeom prst="rect">
            <a:avLst/>
          </a:prstGeom>
          <a:noFill/>
        </p:spPr>
        <p:txBody>
          <a:bodyPr wrap="square" lIns="0" tIns="0" rIns="0" bIns="0" anchor="t">
            <a:spAutoFit/>
          </a:bodyPr>
          <a:lstStyle/>
          <a:p>
            <a:pPr algn="l">
              <a:lnSpc>
                <a:spcPct val="100000"/>
              </a:lnSpc>
            </a:pPr>
            <a:r>
              <a:rPr sz="900" b="0" i="1">
                <a:solidFill>
                  <a:srgbClr val="64748B"/>
                </a:solidFill>
                <a:latin typeface="Aptos"/>
              </a:rPr>
              <a:t>Live API response -- policy fully restored, evidence-matched to Step 2.</a:t>
            </a:r>
          </a:p>
        </p:txBody>
      </p:sp>
      <p:sp>
        <p:nvSpPr>
          <p:cNvPr id="27" name="Rounded Rectangle 26"/>
          <p:cNvSpPr/>
          <p:nvPr/>
        </p:nvSpPr>
        <p:spPr>
          <a:xfrm>
            <a:off x="6903720" y="3794760"/>
            <a:ext cx="4434840" cy="2561272"/>
          </a:xfrm>
          <a:prstGeom prst="roundRect">
            <a:avLst>
              <a:gd name="adj" fmla="val 10000"/>
            </a:avLst>
          </a:prstGeom>
          <a:solidFill>
            <a:srgbClr val="0D1524">
              <a:alpha val="60000"/>
            </a:srgbClr>
          </a:solidFill>
          <a:ln w="1270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4023360"/>
            <a:ext cx="3886200" cy="2195512"/>
          </a:xfrm>
          <a:prstGeom prst="rect">
            <a:avLst/>
          </a:prstGeom>
          <a:noFill/>
        </p:spPr>
        <p:txBody>
          <a:bodyPr wrap="square" lIns="0" tIns="0" rIns="0" bIns="0" anchor="t">
            <a:spAutoFit/>
          </a:bodyPr>
          <a:lstStyle/>
          <a:p>
            <a:pPr algn="l">
              <a:lnSpc>
                <a:spcPct val="120000"/>
              </a:lnSpc>
            </a:pPr>
            <a:r>
              <a:rPr sz="1700" b="1" i="1">
                <a:solidFill>
                  <a:srgbClr val="22D3EE"/>
                </a:solidFill>
                <a:latin typeface="Aptos Display"/>
              </a:rPr>
              <a:t>“Security policy is dynamic,</a:t>
            </a:r>
          </a:p>
          <a:p>
            <a:pPr algn="l">
              <a:lnSpc>
                <a:spcPct val="120000"/>
              </a:lnSpc>
            </a:pPr>
            <a:r>
              <a:rPr sz="1700" b="1" i="1">
                <a:solidFill>
                  <a:srgbClr val="22D3EE"/>
                </a:solidFill>
                <a:latin typeface="Aptos Display"/>
              </a:rPr>
              <a:t>but enforcement remains</a:t>
            </a:r>
          </a:p>
          <a:p>
            <a:pPr algn="l">
              <a:lnSpc>
                <a:spcPct val="120000"/>
              </a:lnSpc>
            </a:pPr>
            <a:r>
              <a:rPr sz="1700" b="1" i="1">
                <a:solidFill>
                  <a:srgbClr val="22D3EE"/>
                </a:solidFill>
                <a:latin typeface="Aptos Display"/>
              </a:rPr>
              <a:t>server-side.”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par>
                          <p:cTn id="17" fill="hold">
                            <p:stCondLst>
                              <p:cond delay="500"/>
                            </p:stCondLst>
                            <p:childTnLst>
                              <p:par>
                                <p:cTn id="18" presetID="10" presetClass="entr" presetSubtype="0" fill="hold" grpId="0" nodeType="afterEffect">
                                  <p:stCondLst>
                                    <p:cond delay="15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par>
                          <p:cTn id="46" fill="hold">
                            <p:stCondLst>
                              <p:cond delay="500"/>
                            </p:stCondLst>
                            <p:childTnLst>
                              <p:par>
                                <p:cTn id="47" presetID="10" presetClass="entr" presetSubtype="0" fill="hold" grpId="0" nodeType="afterEffect">
                                  <p:stCondLst>
                                    <p:cond delay="30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6" grpId="0"/>
      <p:bldP spid="27" grpId="0" animBg="1"/>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13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SECURITY HARDENING</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What was independently verified</a:t>
            </a:r>
          </a:p>
        </p:txBody>
      </p:sp>
      <p:sp>
        <p:nvSpPr>
          <p:cNvPr id="14" name="Rounded Rectangle 13"/>
          <p:cNvSpPr/>
          <p:nvPr/>
        </p:nvSpPr>
        <p:spPr>
          <a:xfrm>
            <a:off x="685800" y="14173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15270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16" name="TextBox 15"/>
          <p:cNvSpPr txBox="1"/>
          <p:nvPr/>
        </p:nvSpPr>
        <p:spPr>
          <a:xfrm>
            <a:off x="1234440" y="15087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Server Authority</a:t>
            </a:r>
          </a:p>
        </p:txBody>
      </p:sp>
      <p:sp>
        <p:nvSpPr>
          <p:cNvPr id="17" name="TextBox 16"/>
          <p:cNvSpPr txBox="1"/>
          <p:nvPr/>
        </p:nvSpPr>
        <p:spPr>
          <a:xfrm>
            <a:off x="1234440" y="18379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Client cannot submit or influence the final decision</a:t>
            </a:r>
          </a:p>
        </p:txBody>
      </p:sp>
      <p:sp>
        <p:nvSpPr>
          <p:cNvPr id="18" name="Rounded Rectangle 17"/>
          <p:cNvSpPr/>
          <p:nvPr/>
        </p:nvSpPr>
        <p:spPr>
          <a:xfrm>
            <a:off x="6217920" y="14173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15270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20" name="TextBox 19"/>
          <p:cNvSpPr txBox="1"/>
          <p:nvPr/>
        </p:nvSpPr>
        <p:spPr>
          <a:xfrm>
            <a:off x="6766559" y="15087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Mass-Assignment Resistance</a:t>
            </a:r>
          </a:p>
        </p:txBody>
      </p:sp>
      <p:sp>
        <p:nvSpPr>
          <p:cNvPr id="21" name="TextBox 20"/>
          <p:cNvSpPr txBox="1"/>
          <p:nvPr/>
        </p:nvSpPr>
        <p:spPr>
          <a:xfrm>
            <a:off x="6766559" y="18379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Extra fields (role, is_admin, risk_score) are ignored</a:t>
            </a:r>
          </a:p>
        </p:txBody>
      </p:sp>
      <p:sp>
        <p:nvSpPr>
          <p:cNvPr id="22" name="Rounded Rectangle 21"/>
          <p:cNvSpPr/>
          <p:nvPr/>
        </p:nvSpPr>
        <p:spPr>
          <a:xfrm>
            <a:off x="685800" y="23317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24414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24" name="TextBox 23"/>
          <p:cNvSpPr txBox="1"/>
          <p:nvPr/>
        </p:nvSpPr>
        <p:spPr>
          <a:xfrm>
            <a:off x="1234440" y="24231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Injection Resistance</a:t>
            </a:r>
          </a:p>
        </p:txBody>
      </p:sp>
      <p:sp>
        <p:nvSpPr>
          <p:cNvPr id="25" name="TextBox 24"/>
          <p:cNvSpPr txBox="1"/>
          <p:nvPr/>
        </p:nvSpPr>
        <p:spPr>
          <a:xfrm>
            <a:off x="1234440" y="27523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SQL / script / path-traversal strings treated as inert data</a:t>
            </a:r>
          </a:p>
        </p:txBody>
      </p:sp>
      <p:sp>
        <p:nvSpPr>
          <p:cNvPr id="26" name="Rounded Rectangle 25"/>
          <p:cNvSpPr/>
          <p:nvPr/>
        </p:nvSpPr>
        <p:spPr>
          <a:xfrm>
            <a:off x="6217920" y="23317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19088" y="24414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28" name="TextBox 27"/>
          <p:cNvSpPr txBox="1"/>
          <p:nvPr/>
        </p:nvSpPr>
        <p:spPr>
          <a:xfrm>
            <a:off x="6766559" y="24231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Foreign-Key Integrity</a:t>
            </a:r>
          </a:p>
        </p:txBody>
      </p:sp>
      <p:sp>
        <p:nvSpPr>
          <p:cNvPr id="29" name="TextBox 28"/>
          <p:cNvSpPr txBox="1"/>
          <p:nvPr/>
        </p:nvSpPr>
        <p:spPr>
          <a:xfrm>
            <a:off x="6766559" y="27523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Zero orphaned rows, enforced on every connection</a:t>
            </a:r>
          </a:p>
        </p:txBody>
      </p:sp>
      <p:sp>
        <p:nvSpPr>
          <p:cNvPr id="30" name="Rounded Rectangle 29"/>
          <p:cNvSpPr/>
          <p:nvPr/>
        </p:nvSpPr>
        <p:spPr>
          <a:xfrm>
            <a:off x="685800" y="32461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6968" y="33558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32" name="TextBox 31"/>
          <p:cNvSpPr txBox="1"/>
          <p:nvPr/>
        </p:nvSpPr>
        <p:spPr>
          <a:xfrm>
            <a:off x="1234440" y="33375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Safe Error Responses</a:t>
            </a:r>
          </a:p>
        </p:txBody>
      </p:sp>
      <p:sp>
        <p:nvSpPr>
          <p:cNvPr id="33" name="TextBox 32"/>
          <p:cNvSpPr txBox="1"/>
          <p:nvPr/>
        </p:nvSpPr>
        <p:spPr>
          <a:xfrm>
            <a:off x="1234440" y="36667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404 / 422 responses leak no stack trace or file path</a:t>
            </a:r>
          </a:p>
        </p:txBody>
      </p:sp>
      <p:sp>
        <p:nvSpPr>
          <p:cNvPr id="34" name="Rounded Rectangle 33"/>
          <p:cNvSpPr/>
          <p:nvPr/>
        </p:nvSpPr>
        <p:spPr>
          <a:xfrm>
            <a:off x="6217920" y="32461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19088" y="33558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36" name="TextBox 35"/>
          <p:cNvSpPr txBox="1"/>
          <p:nvPr/>
        </p:nvSpPr>
        <p:spPr>
          <a:xfrm>
            <a:off x="6766559" y="3337560"/>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CORS Allowlist</a:t>
            </a:r>
          </a:p>
        </p:txBody>
      </p:sp>
      <p:sp>
        <p:nvSpPr>
          <p:cNvPr id="37" name="TextBox 36"/>
          <p:cNvSpPr txBox="1"/>
          <p:nvPr/>
        </p:nvSpPr>
        <p:spPr>
          <a:xfrm>
            <a:off x="6766559" y="36667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Explicit origins only -- never a wildcard with credentials</a:t>
            </a:r>
          </a:p>
        </p:txBody>
      </p:sp>
      <p:sp>
        <p:nvSpPr>
          <p:cNvPr id="38" name="Rounded Rectangle 37"/>
          <p:cNvSpPr/>
          <p:nvPr/>
        </p:nvSpPr>
        <p:spPr>
          <a:xfrm>
            <a:off x="685800" y="41605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6968" y="42702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40" name="TextBox 39"/>
          <p:cNvSpPr txBox="1"/>
          <p:nvPr/>
        </p:nvSpPr>
        <p:spPr>
          <a:xfrm>
            <a:off x="1234440" y="4251959"/>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Security Headers</a:t>
            </a:r>
          </a:p>
        </p:txBody>
      </p:sp>
      <p:sp>
        <p:nvSpPr>
          <p:cNvPr id="41" name="TextBox 40"/>
          <p:cNvSpPr txBox="1"/>
          <p:nvPr/>
        </p:nvSpPr>
        <p:spPr>
          <a:xfrm>
            <a:off x="1234440" y="45811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X-Content-Type-Options, X-Frame-Options, Referrer-Policy</a:t>
            </a:r>
          </a:p>
        </p:txBody>
      </p:sp>
      <p:sp>
        <p:nvSpPr>
          <p:cNvPr id="42" name="Rounded Rectangle 41"/>
          <p:cNvSpPr/>
          <p:nvPr/>
        </p:nvSpPr>
        <p:spPr>
          <a:xfrm>
            <a:off x="6217920" y="41605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19088" y="42702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44" name="TextBox 43"/>
          <p:cNvSpPr txBox="1"/>
          <p:nvPr/>
        </p:nvSpPr>
        <p:spPr>
          <a:xfrm>
            <a:off x="6766559" y="4251959"/>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Schema-Version Safety</a:t>
            </a:r>
          </a:p>
        </p:txBody>
      </p:sp>
      <p:sp>
        <p:nvSpPr>
          <p:cNvPr id="45" name="TextBox 44"/>
          <p:cNvSpPr txBox="1"/>
          <p:nvPr/>
        </p:nvSpPr>
        <p:spPr>
          <a:xfrm>
            <a:off x="6766559" y="45811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Incompatible on-disk schema fails loudly, never silently drops data</a:t>
            </a:r>
          </a:p>
        </p:txBody>
      </p:sp>
      <p:sp>
        <p:nvSpPr>
          <p:cNvPr id="46" name="Rounded Rectangle 45"/>
          <p:cNvSpPr/>
          <p:nvPr/>
        </p:nvSpPr>
        <p:spPr>
          <a:xfrm>
            <a:off x="685800" y="50749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86968" y="51846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48" name="TextBox 47"/>
          <p:cNvSpPr txBox="1"/>
          <p:nvPr/>
        </p:nvSpPr>
        <p:spPr>
          <a:xfrm>
            <a:off x="1234440" y="5166359"/>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Persistent Audit Trail</a:t>
            </a:r>
          </a:p>
        </p:txBody>
      </p:sp>
      <p:sp>
        <p:nvSpPr>
          <p:cNvPr id="49" name="TextBox 48"/>
          <p:cNvSpPr txBox="1"/>
          <p:nvPr/>
        </p:nvSpPr>
        <p:spPr>
          <a:xfrm>
            <a:off x="1234440" y="54955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Every decision persisted with the full request and outcome</a:t>
            </a:r>
          </a:p>
        </p:txBody>
      </p:sp>
      <p:sp>
        <p:nvSpPr>
          <p:cNvPr id="50" name="Rounded Rectangle 49"/>
          <p:cNvSpPr/>
          <p:nvPr/>
        </p:nvSpPr>
        <p:spPr>
          <a:xfrm>
            <a:off x="6217920" y="5074920"/>
            <a:ext cx="5257800" cy="822960"/>
          </a:xfrm>
          <a:prstGeom prst="roundRect">
            <a:avLst>
              <a:gd name="adj" fmla="val 14000"/>
            </a:avLst>
          </a:prstGeom>
          <a:solidFill>
            <a:srgbClr val="0D1524">
              <a:alpha val="60000"/>
            </a:srgbClr>
          </a:solidFill>
          <a:ln w="12700">
            <a:solidFill>
              <a:srgbClr val="22D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19088" y="5184648"/>
            <a:ext cx="457200" cy="365760"/>
          </a:xfrm>
          <a:prstGeom prst="rect">
            <a:avLst/>
          </a:prstGeom>
          <a:noFill/>
        </p:spPr>
        <p:txBody>
          <a:bodyPr wrap="square" lIns="0" tIns="0" rIns="0" bIns="0" anchor="t">
            <a:spAutoFit/>
          </a:bodyPr>
          <a:lstStyle/>
          <a:p>
            <a:pPr algn="l">
              <a:lnSpc>
                <a:spcPct val="100000"/>
              </a:lnSpc>
            </a:pPr>
            <a:r>
              <a:rPr sz="1700" b="1" i="0">
                <a:solidFill>
                  <a:srgbClr val="4ADE80"/>
                </a:solidFill>
                <a:latin typeface="Aptos"/>
              </a:rPr>
              <a:t>✓</a:t>
            </a:r>
          </a:p>
        </p:txBody>
      </p:sp>
      <p:sp>
        <p:nvSpPr>
          <p:cNvPr id="52" name="TextBox 51"/>
          <p:cNvSpPr txBox="1"/>
          <p:nvPr/>
        </p:nvSpPr>
        <p:spPr>
          <a:xfrm>
            <a:off x="6766559" y="5166359"/>
            <a:ext cx="4526280" cy="320040"/>
          </a:xfrm>
          <a:prstGeom prst="rect">
            <a:avLst/>
          </a:prstGeom>
          <a:noFill/>
        </p:spPr>
        <p:txBody>
          <a:bodyPr wrap="square" lIns="0" tIns="0" rIns="0" bIns="0" anchor="t">
            <a:spAutoFit/>
          </a:bodyPr>
          <a:lstStyle/>
          <a:p>
            <a:pPr algn="l">
              <a:lnSpc>
                <a:spcPct val="100000"/>
              </a:lnSpc>
            </a:pPr>
            <a:r>
              <a:rPr sz="1350" b="1" i="0">
                <a:solidFill>
                  <a:srgbClr val="F7FAFC"/>
                </a:solidFill>
                <a:latin typeface="Aptos"/>
              </a:rPr>
              <a:t>Events &amp; Alerting</a:t>
            </a:r>
          </a:p>
        </p:txBody>
      </p:sp>
      <p:sp>
        <p:nvSpPr>
          <p:cNvPr id="53" name="TextBox 52"/>
          <p:cNvSpPr txBox="1"/>
          <p:nvPr/>
        </p:nvSpPr>
        <p:spPr>
          <a:xfrm>
            <a:off x="6766559" y="5495544"/>
            <a:ext cx="4480560" cy="411480"/>
          </a:xfrm>
          <a:prstGeom prst="rect">
            <a:avLst/>
          </a:prstGeom>
          <a:noFill/>
        </p:spPr>
        <p:txBody>
          <a:bodyPr wrap="square" lIns="0" tIns="0" rIns="0" bIns="0" anchor="t">
            <a:spAutoFit/>
          </a:bodyPr>
          <a:lstStyle/>
          <a:p>
            <a:pPr algn="l">
              <a:lnSpc>
                <a:spcPct val="105000"/>
              </a:lnSpc>
            </a:pPr>
            <a:r>
              <a:rPr sz="1000" b="0" i="0">
                <a:solidFill>
                  <a:srgbClr val="A3B1C6"/>
                </a:solidFill>
                <a:latin typeface="Aptos"/>
              </a:rPr>
              <a:t>Every deny and every HIGH/CRITICAL risk request raises a record</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14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THE LIVE CONSOLE</a:t>
            </a:r>
          </a:p>
        </p:txBody>
      </p:sp>
      <p:sp>
        <p:nvSpPr>
          <p:cNvPr id="13" name="TextBox 12"/>
          <p:cNvSpPr txBox="1"/>
          <p:nvPr/>
        </p:nvSpPr>
        <p:spPr>
          <a:xfrm>
            <a:off x="685800" y="749808"/>
            <a:ext cx="10789920" cy="914400"/>
          </a:xfrm>
          <a:prstGeom prst="rect">
            <a:avLst/>
          </a:prstGeom>
          <a:noFill/>
        </p:spPr>
        <p:txBody>
          <a:bodyPr wrap="square" lIns="0" tIns="0" rIns="0" bIns="0" anchor="t">
            <a:spAutoFit/>
          </a:bodyPr>
          <a:lstStyle/>
          <a:p>
            <a:pPr algn="l">
              <a:lnSpc>
                <a:spcPct val="100000"/>
              </a:lnSpc>
            </a:pPr>
            <a:r>
              <a:rPr sz="2500" b="1" i="0">
                <a:solidFill>
                  <a:srgbClr val="F7FAFC"/>
                </a:solidFill>
                <a:latin typeface="Aptos Display"/>
              </a:rPr>
              <a:t>Nine screens. One decision engine underneath.</a:t>
            </a:r>
          </a:p>
        </p:txBody>
      </p:sp>
      <p:sp>
        <p:nvSpPr>
          <p:cNvPr id="14" name="TextBox 13"/>
          <p:cNvSpPr txBox="1"/>
          <p:nvPr/>
        </p:nvSpPr>
        <p:spPr>
          <a:xfrm>
            <a:off x="1212951" y="1371600"/>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DASHBOARD</a:t>
            </a:r>
          </a:p>
        </p:txBody>
      </p:sp>
      <p:sp>
        <p:nvSpPr>
          <p:cNvPr id="15" name="Rounded Rectangle 14"/>
          <p:cNvSpPr/>
          <p:nvPr/>
        </p:nvSpPr>
        <p:spPr>
          <a:xfrm>
            <a:off x="1167231" y="152704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02-dashboard-overview.jpg"/>
          <p:cNvPicPr>
            <a:picLocks noChangeAspect="1"/>
          </p:cNvPicPr>
          <p:nvPr/>
        </p:nvPicPr>
        <p:blipFill>
          <a:blip r:embed="rId3"/>
          <a:stretch>
            <a:fillRect/>
          </a:stretch>
        </p:blipFill>
        <p:spPr>
          <a:xfrm>
            <a:off x="1212951" y="1572768"/>
            <a:ext cx="3072384" cy="1372171"/>
          </a:xfrm>
          <a:prstGeom prst="rect">
            <a:avLst/>
          </a:prstGeom>
        </p:spPr>
      </p:pic>
      <p:sp>
        <p:nvSpPr>
          <p:cNvPr id="17" name="TextBox 16"/>
          <p:cNvSpPr txBox="1"/>
          <p:nvPr/>
        </p:nvSpPr>
        <p:spPr>
          <a:xfrm>
            <a:off x="4559655" y="1371600"/>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ACCESS REQUESTS</a:t>
            </a:r>
          </a:p>
        </p:txBody>
      </p:sp>
      <p:sp>
        <p:nvSpPr>
          <p:cNvPr id="18" name="Rounded Rectangle 17"/>
          <p:cNvSpPr/>
          <p:nvPr/>
        </p:nvSpPr>
        <p:spPr>
          <a:xfrm>
            <a:off x="4513935" y="152704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03-access-requests-list.jpg"/>
          <p:cNvPicPr>
            <a:picLocks noChangeAspect="1"/>
          </p:cNvPicPr>
          <p:nvPr/>
        </p:nvPicPr>
        <p:blipFill>
          <a:blip r:embed="rId4"/>
          <a:stretch>
            <a:fillRect/>
          </a:stretch>
        </p:blipFill>
        <p:spPr>
          <a:xfrm>
            <a:off x="4559655" y="1572768"/>
            <a:ext cx="3072384" cy="1372171"/>
          </a:xfrm>
          <a:prstGeom prst="rect">
            <a:avLst/>
          </a:prstGeom>
        </p:spPr>
      </p:pic>
      <p:sp>
        <p:nvSpPr>
          <p:cNvPr id="20" name="TextBox 19"/>
          <p:cNvSpPr txBox="1"/>
          <p:nvPr/>
        </p:nvSpPr>
        <p:spPr>
          <a:xfrm>
            <a:off x="7906359" y="1371600"/>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IAM MANAGEMENT</a:t>
            </a:r>
          </a:p>
        </p:txBody>
      </p:sp>
      <p:sp>
        <p:nvSpPr>
          <p:cNvPr id="21" name="Rounded Rectangle 20"/>
          <p:cNvSpPr/>
          <p:nvPr/>
        </p:nvSpPr>
        <p:spPr>
          <a:xfrm>
            <a:off x="7860639" y="152704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06-iam-management.jpg"/>
          <p:cNvPicPr>
            <a:picLocks noChangeAspect="1"/>
          </p:cNvPicPr>
          <p:nvPr/>
        </p:nvPicPr>
        <p:blipFill>
          <a:blip r:embed="rId5"/>
          <a:stretch>
            <a:fillRect/>
          </a:stretch>
        </p:blipFill>
        <p:spPr>
          <a:xfrm>
            <a:off x="7906359" y="1572768"/>
            <a:ext cx="3072384" cy="1372171"/>
          </a:xfrm>
          <a:prstGeom prst="rect">
            <a:avLst/>
          </a:prstGeom>
        </p:spPr>
      </p:pic>
      <p:sp>
        <p:nvSpPr>
          <p:cNvPr id="23" name="TextBox 22"/>
          <p:cNvSpPr txBox="1"/>
          <p:nvPr/>
        </p:nvSpPr>
        <p:spPr>
          <a:xfrm>
            <a:off x="1212951" y="3072955"/>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VPC SECURITY</a:t>
            </a:r>
          </a:p>
        </p:txBody>
      </p:sp>
      <p:sp>
        <p:nvSpPr>
          <p:cNvPr id="24" name="Rounded Rectangle 23"/>
          <p:cNvSpPr/>
          <p:nvPr/>
        </p:nvSpPr>
        <p:spPr>
          <a:xfrm>
            <a:off x="1167231" y="3228403"/>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07-vpc-security.jpg"/>
          <p:cNvPicPr>
            <a:picLocks noChangeAspect="1"/>
          </p:cNvPicPr>
          <p:nvPr/>
        </p:nvPicPr>
        <p:blipFill>
          <a:blip r:embed="rId6"/>
          <a:stretch>
            <a:fillRect/>
          </a:stretch>
        </p:blipFill>
        <p:spPr>
          <a:xfrm>
            <a:off x="1212951" y="3274123"/>
            <a:ext cx="3072384" cy="1372171"/>
          </a:xfrm>
          <a:prstGeom prst="rect">
            <a:avLst/>
          </a:prstGeom>
        </p:spPr>
      </p:pic>
      <p:sp>
        <p:nvSpPr>
          <p:cNvPr id="26" name="TextBox 25"/>
          <p:cNvSpPr txBox="1"/>
          <p:nvPr/>
        </p:nvSpPr>
        <p:spPr>
          <a:xfrm>
            <a:off x="4559655" y="3072955"/>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STORAGE RESOURCES</a:t>
            </a:r>
          </a:p>
        </p:txBody>
      </p:sp>
      <p:sp>
        <p:nvSpPr>
          <p:cNvPr id="27" name="Rounded Rectangle 26"/>
          <p:cNvSpPr/>
          <p:nvPr/>
        </p:nvSpPr>
        <p:spPr>
          <a:xfrm>
            <a:off x="4513935" y="3228403"/>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08-storage-resources.jpg"/>
          <p:cNvPicPr>
            <a:picLocks noChangeAspect="1"/>
          </p:cNvPicPr>
          <p:nvPr/>
        </p:nvPicPr>
        <p:blipFill>
          <a:blip r:embed="rId7"/>
          <a:stretch>
            <a:fillRect/>
          </a:stretch>
        </p:blipFill>
        <p:spPr>
          <a:xfrm>
            <a:off x="4559655" y="3274123"/>
            <a:ext cx="3072384" cy="1372171"/>
          </a:xfrm>
          <a:prstGeom prst="rect">
            <a:avLst/>
          </a:prstGeom>
        </p:spPr>
      </p:pic>
      <p:sp>
        <p:nvSpPr>
          <p:cNvPr id="29" name="TextBox 28"/>
          <p:cNvSpPr txBox="1"/>
          <p:nvPr/>
        </p:nvSpPr>
        <p:spPr>
          <a:xfrm>
            <a:off x="7906359" y="3072955"/>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POLICIES</a:t>
            </a:r>
          </a:p>
        </p:txBody>
      </p:sp>
      <p:sp>
        <p:nvSpPr>
          <p:cNvPr id="30" name="Rounded Rectangle 29"/>
          <p:cNvSpPr/>
          <p:nvPr/>
        </p:nvSpPr>
        <p:spPr>
          <a:xfrm>
            <a:off x="7860639" y="3228403"/>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11-policies-list.jpg"/>
          <p:cNvPicPr>
            <a:picLocks noChangeAspect="1"/>
          </p:cNvPicPr>
          <p:nvPr/>
        </p:nvPicPr>
        <p:blipFill>
          <a:blip r:embed="rId8"/>
          <a:stretch>
            <a:fillRect/>
          </a:stretch>
        </p:blipFill>
        <p:spPr>
          <a:xfrm>
            <a:off x="7906359" y="3274123"/>
            <a:ext cx="3072384" cy="1372171"/>
          </a:xfrm>
          <a:prstGeom prst="rect">
            <a:avLst/>
          </a:prstGeom>
        </p:spPr>
      </p:pic>
      <p:sp>
        <p:nvSpPr>
          <p:cNvPr id="32" name="TextBox 31"/>
          <p:cNvSpPr txBox="1"/>
          <p:nvPr/>
        </p:nvSpPr>
        <p:spPr>
          <a:xfrm>
            <a:off x="1212951" y="4774311"/>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SECURITY EVENTS</a:t>
            </a:r>
          </a:p>
        </p:txBody>
      </p:sp>
      <p:sp>
        <p:nvSpPr>
          <p:cNvPr id="33" name="Rounded Rectangle 32"/>
          <p:cNvSpPr/>
          <p:nvPr/>
        </p:nvSpPr>
        <p:spPr>
          <a:xfrm>
            <a:off x="1167231" y="492975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09-security-events-list.jpg"/>
          <p:cNvPicPr>
            <a:picLocks noChangeAspect="1"/>
          </p:cNvPicPr>
          <p:nvPr/>
        </p:nvPicPr>
        <p:blipFill>
          <a:blip r:embed="rId9"/>
          <a:stretch>
            <a:fillRect/>
          </a:stretch>
        </p:blipFill>
        <p:spPr>
          <a:xfrm>
            <a:off x="1212951" y="4975478"/>
            <a:ext cx="3072384" cy="1372171"/>
          </a:xfrm>
          <a:prstGeom prst="rect">
            <a:avLst/>
          </a:prstGeom>
        </p:spPr>
      </p:pic>
      <p:sp>
        <p:nvSpPr>
          <p:cNvPr id="35" name="TextBox 34"/>
          <p:cNvSpPr txBox="1"/>
          <p:nvPr/>
        </p:nvSpPr>
        <p:spPr>
          <a:xfrm>
            <a:off x="4559655" y="4774311"/>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ALERTS</a:t>
            </a:r>
          </a:p>
        </p:txBody>
      </p:sp>
      <p:sp>
        <p:nvSpPr>
          <p:cNvPr id="36" name="Rounded Rectangle 35"/>
          <p:cNvSpPr/>
          <p:nvPr/>
        </p:nvSpPr>
        <p:spPr>
          <a:xfrm>
            <a:off x="4513935" y="492975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10-alerts-list.jpg"/>
          <p:cNvPicPr>
            <a:picLocks noChangeAspect="1"/>
          </p:cNvPicPr>
          <p:nvPr/>
        </p:nvPicPr>
        <p:blipFill>
          <a:blip r:embed="rId10"/>
          <a:stretch>
            <a:fillRect/>
          </a:stretch>
        </p:blipFill>
        <p:spPr>
          <a:xfrm>
            <a:off x="4559655" y="4975478"/>
            <a:ext cx="3072384" cy="1372171"/>
          </a:xfrm>
          <a:prstGeom prst="rect">
            <a:avLst/>
          </a:prstGeom>
        </p:spPr>
      </p:pic>
      <p:sp>
        <p:nvSpPr>
          <p:cNvPr id="38" name="TextBox 37"/>
          <p:cNvSpPr txBox="1"/>
          <p:nvPr/>
        </p:nvSpPr>
        <p:spPr>
          <a:xfrm>
            <a:off x="7906359" y="4774311"/>
            <a:ext cx="3072384" cy="201168"/>
          </a:xfrm>
          <a:prstGeom prst="rect">
            <a:avLst/>
          </a:prstGeom>
          <a:noFill/>
        </p:spPr>
        <p:txBody>
          <a:bodyPr wrap="square" lIns="0" tIns="0" rIns="0" bIns="0" anchor="t">
            <a:spAutoFit/>
          </a:bodyPr>
          <a:lstStyle/>
          <a:p>
            <a:pPr algn="l">
              <a:lnSpc>
                <a:spcPct val="100000"/>
              </a:lnSpc>
            </a:pPr>
            <a:r>
              <a:rPr sz="1000" b="1" i="0">
                <a:solidFill>
                  <a:srgbClr val="22D3EE"/>
                </a:solidFill>
                <a:latin typeface="Aptos"/>
              </a:rPr>
              <a:t>ATTACK SIMULATOR</a:t>
            </a:r>
          </a:p>
        </p:txBody>
      </p:sp>
      <p:sp>
        <p:nvSpPr>
          <p:cNvPr id="39" name="Rounded Rectangle 38"/>
          <p:cNvSpPr/>
          <p:nvPr/>
        </p:nvSpPr>
        <p:spPr>
          <a:xfrm>
            <a:off x="7860639" y="4929758"/>
            <a:ext cx="3163824" cy="1463611"/>
          </a:xfrm>
          <a:prstGeom prst="roundRect">
            <a:avLst>
              <a:gd name="adj" fmla="val 3000"/>
            </a:avLst>
          </a:prstGeom>
          <a:solidFill>
            <a:srgbClr val="0D1524"/>
          </a:solidFill>
          <a:ln w="12700">
            <a:solidFill>
              <a:srgbClr val="22D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13-attack-simulator-landing.jpg"/>
          <p:cNvPicPr>
            <a:picLocks noChangeAspect="1"/>
          </p:cNvPicPr>
          <p:nvPr/>
        </p:nvPicPr>
        <p:blipFill>
          <a:blip r:embed="rId11"/>
          <a:stretch>
            <a:fillRect/>
          </a:stretch>
        </p:blipFill>
        <p:spPr>
          <a:xfrm>
            <a:off x="7906359" y="4975478"/>
            <a:ext cx="3072384" cy="137217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15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DATA MODEL</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One schema, three purposes</a:t>
            </a:r>
          </a:p>
        </p:txBody>
      </p:sp>
      <p:sp>
        <p:nvSpPr>
          <p:cNvPr id="14" name="Rounded Rectangle 13"/>
          <p:cNvSpPr/>
          <p:nvPr/>
        </p:nvSpPr>
        <p:spPr>
          <a:xfrm>
            <a:off x="822960" y="1600200"/>
            <a:ext cx="3429000" cy="4754880"/>
          </a:xfrm>
          <a:prstGeom prst="roundRect">
            <a:avLst>
              <a:gd name="adj" fmla="val 12000"/>
            </a:avLst>
          </a:prstGeom>
          <a:solidFill>
            <a:srgbClr val="0D1524">
              <a:alpha val="55000"/>
            </a:srgbClr>
          </a:solidFill>
          <a:ln w="1270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97280" y="1874519"/>
            <a:ext cx="2880360" cy="411480"/>
          </a:xfrm>
          <a:prstGeom prst="roundRect">
            <a:avLst>
              <a:gd name="adj" fmla="val 50000"/>
            </a:avLst>
          </a:prstGeom>
          <a:solidFill>
            <a:srgbClr val="22D3EE">
              <a:alpha val="16000"/>
            </a:srgbClr>
          </a:solidFill>
          <a:ln w="12700">
            <a:solidFill>
              <a:srgbClr val="22D3EE">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2D3EE"/>
                </a:solidFill>
                <a:latin typeface="Aptos"/>
              </a:rPr>
              <a:t>CATALOG</a:t>
            </a:r>
          </a:p>
        </p:txBody>
      </p:sp>
      <p:sp>
        <p:nvSpPr>
          <p:cNvPr id="16" name="Rounded Rectangle 15"/>
          <p:cNvSpPr/>
          <p:nvPr/>
        </p:nvSpPr>
        <p:spPr>
          <a:xfrm>
            <a:off x="1097280" y="2514600"/>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2514600"/>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users</a:t>
            </a:r>
          </a:p>
        </p:txBody>
      </p:sp>
      <p:sp>
        <p:nvSpPr>
          <p:cNvPr id="18" name="Rounded Rectangle 17"/>
          <p:cNvSpPr/>
          <p:nvPr/>
        </p:nvSpPr>
        <p:spPr>
          <a:xfrm>
            <a:off x="1097280" y="3044952"/>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3044952"/>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roles</a:t>
            </a:r>
          </a:p>
        </p:txBody>
      </p:sp>
      <p:sp>
        <p:nvSpPr>
          <p:cNvPr id="20" name="Rounded Rectangle 19"/>
          <p:cNvSpPr/>
          <p:nvPr/>
        </p:nvSpPr>
        <p:spPr>
          <a:xfrm>
            <a:off x="1097280" y="3575304"/>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3575304"/>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permissions</a:t>
            </a:r>
          </a:p>
        </p:txBody>
      </p:sp>
      <p:sp>
        <p:nvSpPr>
          <p:cNvPr id="22" name="Rounded Rectangle 21"/>
          <p:cNvSpPr/>
          <p:nvPr/>
        </p:nvSpPr>
        <p:spPr>
          <a:xfrm>
            <a:off x="1097280" y="4105656"/>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4105656"/>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resources</a:t>
            </a:r>
          </a:p>
        </p:txBody>
      </p:sp>
      <p:sp>
        <p:nvSpPr>
          <p:cNvPr id="24" name="Rounded Rectangle 23"/>
          <p:cNvSpPr/>
          <p:nvPr/>
        </p:nvSpPr>
        <p:spPr>
          <a:xfrm>
            <a:off x="1097280" y="4636008"/>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4636008"/>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vpcs</a:t>
            </a:r>
          </a:p>
        </p:txBody>
      </p:sp>
      <p:sp>
        <p:nvSpPr>
          <p:cNvPr id="26" name="Rounded Rectangle 25"/>
          <p:cNvSpPr/>
          <p:nvPr/>
        </p:nvSpPr>
        <p:spPr>
          <a:xfrm>
            <a:off x="1097280" y="5166360"/>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80160" y="5166360"/>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policies</a:t>
            </a:r>
          </a:p>
        </p:txBody>
      </p:sp>
      <p:sp>
        <p:nvSpPr>
          <p:cNvPr id="28" name="TextBox 27"/>
          <p:cNvSpPr txBox="1"/>
          <p:nvPr/>
        </p:nvSpPr>
        <p:spPr>
          <a:xfrm>
            <a:off x="1097280" y="5833872"/>
            <a:ext cx="2880360" cy="457200"/>
          </a:xfrm>
          <a:prstGeom prst="rect">
            <a:avLst/>
          </a:prstGeom>
          <a:noFill/>
        </p:spPr>
        <p:txBody>
          <a:bodyPr wrap="square" lIns="0" tIns="0" rIns="0" bIns="0" anchor="t">
            <a:spAutoFit/>
          </a:bodyPr>
          <a:lstStyle/>
          <a:p>
            <a:pPr algn="l">
              <a:lnSpc>
                <a:spcPct val="115000"/>
              </a:lnSpc>
            </a:pPr>
            <a:r>
              <a:rPr sz="1050" b="0" i="1">
                <a:solidFill>
                  <a:srgbClr val="A3B1C6"/>
                </a:solidFill>
                <a:latin typeface="Aptos"/>
              </a:rPr>
              <a:t>What exists, and who is allowed to touch what</a:t>
            </a:r>
          </a:p>
        </p:txBody>
      </p:sp>
      <p:sp>
        <p:nvSpPr>
          <p:cNvPr id="29" name="Rounded Rectangle 28"/>
          <p:cNvSpPr/>
          <p:nvPr/>
        </p:nvSpPr>
        <p:spPr>
          <a:xfrm>
            <a:off x="4572000" y="1600200"/>
            <a:ext cx="3429000" cy="4754880"/>
          </a:xfrm>
          <a:prstGeom prst="roundRect">
            <a:avLst>
              <a:gd name="adj" fmla="val 12000"/>
            </a:avLst>
          </a:prstGeom>
          <a:solidFill>
            <a:srgbClr val="0D1524">
              <a:alpha val="55000"/>
            </a:srgbClr>
          </a:solidFill>
          <a:ln w="12700">
            <a:solidFill>
              <a:srgbClr val="FBBF2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846320" y="1874519"/>
            <a:ext cx="2880360" cy="411480"/>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BBF24"/>
                </a:solidFill>
                <a:latin typeface="Aptos"/>
              </a:rPr>
              <a:t>AUDIT</a:t>
            </a:r>
          </a:p>
        </p:txBody>
      </p:sp>
      <p:sp>
        <p:nvSpPr>
          <p:cNvPr id="31" name="Rounded Rectangle 30"/>
          <p:cNvSpPr/>
          <p:nvPr/>
        </p:nvSpPr>
        <p:spPr>
          <a:xfrm>
            <a:off x="4846320" y="2514600"/>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0" y="2514600"/>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access_requests</a:t>
            </a:r>
          </a:p>
        </p:txBody>
      </p:sp>
      <p:sp>
        <p:nvSpPr>
          <p:cNvPr id="33" name="Rounded Rectangle 32"/>
          <p:cNvSpPr/>
          <p:nvPr/>
        </p:nvSpPr>
        <p:spPr>
          <a:xfrm>
            <a:off x="4846320" y="3044952"/>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0" y="3044952"/>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security_events</a:t>
            </a:r>
          </a:p>
        </p:txBody>
      </p:sp>
      <p:sp>
        <p:nvSpPr>
          <p:cNvPr id="35" name="Rounded Rectangle 34"/>
          <p:cNvSpPr/>
          <p:nvPr/>
        </p:nvSpPr>
        <p:spPr>
          <a:xfrm>
            <a:off x="4846320" y="3575304"/>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0" y="3575304"/>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alerts</a:t>
            </a:r>
          </a:p>
        </p:txBody>
      </p:sp>
      <p:sp>
        <p:nvSpPr>
          <p:cNvPr id="37" name="TextBox 36"/>
          <p:cNvSpPr txBox="1"/>
          <p:nvPr/>
        </p:nvSpPr>
        <p:spPr>
          <a:xfrm>
            <a:off x="4846320" y="5833872"/>
            <a:ext cx="2880360" cy="457200"/>
          </a:xfrm>
          <a:prstGeom prst="rect">
            <a:avLst/>
          </a:prstGeom>
          <a:noFill/>
        </p:spPr>
        <p:txBody>
          <a:bodyPr wrap="square" lIns="0" tIns="0" rIns="0" bIns="0" anchor="t">
            <a:spAutoFit/>
          </a:bodyPr>
          <a:lstStyle/>
          <a:p>
            <a:pPr algn="l">
              <a:lnSpc>
                <a:spcPct val="115000"/>
              </a:lnSpc>
            </a:pPr>
            <a:r>
              <a:rPr sz="1050" b="0" i="1">
                <a:solidFill>
                  <a:srgbClr val="A3B1C6"/>
                </a:solidFill>
                <a:latin typeface="Aptos"/>
              </a:rPr>
              <a:t>What actually happened, and what it triggered</a:t>
            </a:r>
          </a:p>
        </p:txBody>
      </p:sp>
      <p:sp>
        <p:nvSpPr>
          <p:cNvPr id="38" name="Rounded Rectangle 37"/>
          <p:cNvSpPr/>
          <p:nvPr/>
        </p:nvSpPr>
        <p:spPr>
          <a:xfrm>
            <a:off x="8321040" y="1600200"/>
            <a:ext cx="3429000" cy="4754880"/>
          </a:xfrm>
          <a:prstGeom prst="roundRect">
            <a:avLst>
              <a:gd name="adj" fmla="val 12000"/>
            </a:avLst>
          </a:prstGeom>
          <a:solidFill>
            <a:srgbClr val="0D1524">
              <a:alpha val="55000"/>
            </a:srgbClr>
          </a:solidFill>
          <a:ln w="12700">
            <a:solidFill>
              <a:srgbClr val="A3B1C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8595360" y="1874519"/>
            <a:ext cx="2880360" cy="411480"/>
          </a:xfrm>
          <a:prstGeom prst="roundRect">
            <a:avLst>
              <a:gd name="adj" fmla="val 50000"/>
            </a:avLst>
          </a:prstGeom>
          <a:solidFill>
            <a:srgbClr val="A3B1C6">
              <a:alpha val="16000"/>
            </a:srgbClr>
          </a:solidFill>
          <a:ln w="12700">
            <a:solidFill>
              <a:srgbClr val="A3B1C6">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A3B1C6"/>
                </a:solidFill>
                <a:latin typeface="Aptos"/>
              </a:rPr>
              <a:t>SCHEMA</a:t>
            </a:r>
          </a:p>
        </p:txBody>
      </p:sp>
      <p:sp>
        <p:nvSpPr>
          <p:cNvPr id="40" name="Rounded Rectangle 39"/>
          <p:cNvSpPr/>
          <p:nvPr/>
        </p:nvSpPr>
        <p:spPr>
          <a:xfrm>
            <a:off x="8595360" y="2514600"/>
            <a:ext cx="2880360" cy="420624"/>
          </a:xfrm>
          <a:prstGeom prst="roundRect">
            <a:avLst>
              <a:gd name="adj" fmla="val 8000"/>
            </a:avLst>
          </a:prstGeom>
          <a:solidFill>
            <a:srgbClr val="131E33"/>
          </a:solidFill>
          <a:ln w="12700">
            <a:solidFill>
              <a:srgbClr val="18243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78240" y="2514600"/>
            <a:ext cx="2514600" cy="420624"/>
          </a:xfrm>
          <a:prstGeom prst="rect">
            <a:avLst/>
          </a:prstGeom>
          <a:noFill/>
        </p:spPr>
        <p:txBody>
          <a:bodyPr wrap="square" lIns="0" tIns="0" rIns="0" bIns="0" anchor="ctr">
            <a:spAutoFit/>
          </a:bodyPr>
          <a:lstStyle/>
          <a:p>
            <a:pPr algn="l">
              <a:lnSpc>
                <a:spcPct val="100000"/>
              </a:lnSpc>
            </a:pPr>
            <a:r>
              <a:rPr sz="1250" b="0" i="0">
                <a:solidFill>
                  <a:srgbClr val="F7FAFC"/>
                </a:solidFill>
                <a:latin typeface="Consolas"/>
              </a:rPr>
              <a:t>schema_version</a:t>
            </a:r>
          </a:p>
        </p:txBody>
      </p:sp>
      <p:sp>
        <p:nvSpPr>
          <p:cNvPr id="42" name="TextBox 41"/>
          <p:cNvSpPr txBox="1"/>
          <p:nvPr/>
        </p:nvSpPr>
        <p:spPr>
          <a:xfrm>
            <a:off x="8595360" y="5833872"/>
            <a:ext cx="2880360" cy="457200"/>
          </a:xfrm>
          <a:prstGeom prst="rect">
            <a:avLst/>
          </a:prstGeom>
          <a:noFill/>
        </p:spPr>
        <p:txBody>
          <a:bodyPr wrap="square" lIns="0" tIns="0" rIns="0" bIns="0" anchor="t">
            <a:spAutoFit/>
          </a:bodyPr>
          <a:lstStyle/>
          <a:p>
            <a:pPr algn="l">
              <a:lnSpc>
                <a:spcPct val="115000"/>
              </a:lnSpc>
            </a:pPr>
            <a:r>
              <a:rPr sz="1050" b="0" i="1">
                <a:solidFill>
                  <a:srgbClr val="A3B1C6"/>
                </a:solidFill>
                <a:latin typeface="Aptos"/>
              </a:rPr>
              <a:t>A guard against loading an incompatible database</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16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VERIFIED, NOT CLAIMED</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Every number here is reproducible</a:t>
            </a:r>
          </a:p>
        </p:txBody>
      </p:sp>
      <p:sp>
        <p:nvSpPr>
          <p:cNvPr id="14" name="Rounded Rectangle 13"/>
          <p:cNvSpPr/>
          <p:nvPr/>
        </p:nvSpPr>
        <p:spPr>
          <a:xfrm>
            <a:off x="655167" y="1828800"/>
            <a:ext cx="3383280" cy="2377440"/>
          </a:xfrm>
          <a:prstGeom prst="roundRect">
            <a:avLst>
              <a:gd name="adj" fmla="val 14000"/>
            </a:avLst>
          </a:prstGeom>
          <a:solidFill>
            <a:srgbClr val="0D1524">
              <a:alpha val="60000"/>
            </a:srgbClr>
          </a:solidFill>
          <a:ln w="12700">
            <a:solidFill>
              <a:srgbClr val="4ADE80">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5167" y="2194560"/>
            <a:ext cx="3383280" cy="822960"/>
          </a:xfrm>
          <a:prstGeom prst="rect">
            <a:avLst/>
          </a:prstGeom>
          <a:noFill/>
        </p:spPr>
        <p:txBody>
          <a:bodyPr wrap="square" lIns="0" tIns="0" rIns="0" bIns="0" anchor="t">
            <a:spAutoFit/>
          </a:bodyPr>
          <a:lstStyle/>
          <a:p>
            <a:pPr algn="ctr">
              <a:lnSpc>
                <a:spcPct val="100000"/>
              </a:lnSpc>
            </a:pPr>
            <a:r>
              <a:rPr sz="3800" b="1" i="0">
                <a:solidFill>
                  <a:srgbClr val="4ADE80"/>
                </a:solidFill>
                <a:latin typeface="Aptos Display"/>
              </a:rPr>
              <a:t>82 / 82</a:t>
            </a:r>
          </a:p>
        </p:txBody>
      </p:sp>
      <p:sp>
        <p:nvSpPr>
          <p:cNvPr id="16" name="TextBox 15"/>
          <p:cNvSpPr txBox="1"/>
          <p:nvPr/>
        </p:nvSpPr>
        <p:spPr>
          <a:xfrm>
            <a:off x="929487" y="3108960"/>
            <a:ext cx="2834640" cy="365760"/>
          </a:xfrm>
          <a:prstGeom prst="rect">
            <a:avLst/>
          </a:prstGeom>
          <a:noFill/>
        </p:spPr>
        <p:txBody>
          <a:bodyPr wrap="square" lIns="0" tIns="0" rIns="0" bIns="0" anchor="t">
            <a:spAutoFit/>
          </a:bodyPr>
          <a:lstStyle/>
          <a:p>
            <a:pPr algn="ctr">
              <a:lnSpc>
                <a:spcPct val="100000"/>
              </a:lnSpc>
            </a:pPr>
            <a:r>
              <a:rPr sz="1350" b="1" i="0">
                <a:solidFill>
                  <a:srgbClr val="F7FAFC"/>
                </a:solidFill>
                <a:latin typeface="Aptos"/>
              </a:rPr>
              <a:t>Backend tests passed</a:t>
            </a:r>
          </a:p>
        </p:txBody>
      </p:sp>
      <p:sp>
        <p:nvSpPr>
          <p:cNvPr id="17" name="TextBox 16"/>
          <p:cNvSpPr txBox="1"/>
          <p:nvPr/>
        </p:nvSpPr>
        <p:spPr>
          <a:xfrm>
            <a:off x="929487" y="3520440"/>
            <a:ext cx="2834640" cy="457200"/>
          </a:xfrm>
          <a:prstGeom prst="rect">
            <a:avLst/>
          </a:prstGeom>
          <a:noFill/>
        </p:spPr>
        <p:txBody>
          <a:bodyPr wrap="square" lIns="0" tIns="0" rIns="0" bIns="0" anchor="t">
            <a:spAutoFit/>
          </a:bodyPr>
          <a:lstStyle/>
          <a:p>
            <a:pPr algn="ctr">
              <a:lnSpc>
                <a:spcPct val="100000"/>
              </a:lnSpc>
            </a:pPr>
            <a:r>
              <a:rPr sz="1050" b="0" i="0">
                <a:solidFill>
                  <a:srgbClr val="64748B"/>
                </a:solidFill>
                <a:latin typeface="Consolas"/>
              </a:rPr>
              <a:t>pytest -- 0 failed</a:t>
            </a:r>
          </a:p>
        </p:txBody>
      </p:sp>
      <p:sp>
        <p:nvSpPr>
          <p:cNvPr id="18" name="Rounded Rectangle 17"/>
          <p:cNvSpPr/>
          <p:nvPr/>
        </p:nvSpPr>
        <p:spPr>
          <a:xfrm>
            <a:off x="4404207" y="1828800"/>
            <a:ext cx="3383280" cy="2377440"/>
          </a:xfrm>
          <a:prstGeom prst="roundRect">
            <a:avLst>
              <a:gd name="adj" fmla="val 14000"/>
            </a:avLst>
          </a:prstGeom>
          <a:solidFill>
            <a:srgbClr val="0D1524">
              <a:alpha val="60000"/>
            </a:srgbClr>
          </a:solidFill>
          <a:ln w="12700">
            <a:solidFill>
              <a:srgbClr val="22D3EE">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04207" y="2194560"/>
            <a:ext cx="3383280" cy="822960"/>
          </a:xfrm>
          <a:prstGeom prst="rect">
            <a:avLst/>
          </a:prstGeom>
          <a:noFill/>
        </p:spPr>
        <p:txBody>
          <a:bodyPr wrap="square" lIns="0" tIns="0" rIns="0" bIns="0" anchor="t">
            <a:spAutoFit/>
          </a:bodyPr>
          <a:lstStyle/>
          <a:p>
            <a:pPr algn="ctr">
              <a:lnSpc>
                <a:spcPct val="100000"/>
              </a:lnSpc>
            </a:pPr>
            <a:r>
              <a:rPr sz="3800" b="1" i="0">
                <a:solidFill>
                  <a:srgbClr val="22D3EE"/>
                </a:solidFill>
                <a:latin typeface="Aptos Display"/>
              </a:rPr>
              <a:t>17 / 17</a:t>
            </a:r>
          </a:p>
        </p:txBody>
      </p:sp>
      <p:sp>
        <p:nvSpPr>
          <p:cNvPr id="20" name="TextBox 19"/>
          <p:cNvSpPr txBox="1"/>
          <p:nvPr/>
        </p:nvSpPr>
        <p:spPr>
          <a:xfrm>
            <a:off x="4678527" y="3108960"/>
            <a:ext cx="2834640" cy="365760"/>
          </a:xfrm>
          <a:prstGeom prst="rect">
            <a:avLst/>
          </a:prstGeom>
          <a:noFill/>
        </p:spPr>
        <p:txBody>
          <a:bodyPr wrap="square" lIns="0" tIns="0" rIns="0" bIns="0" anchor="t">
            <a:spAutoFit/>
          </a:bodyPr>
          <a:lstStyle/>
          <a:p>
            <a:pPr algn="ctr">
              <a:lnSpc>
                <a:spcPct val="100000"/>
              </a:lnSpc>
            </a:pPr>
            <a:r>
              <a:rPr sz="1350" b="1" i="0">
                <a:solidFill>
                  <a:srgbClr val="F7FAFC"/>
                </a:solidFill>
                <a:latin typeface="Aptos"/>
              </a:rPr>
              <a:t>Portability checks passed</a:t>
            </a:r>
          </a:p>
        </p:txBody>
      </p:sp>
      <p:sp>
        <p:nvSpPr>
          <p:cNvPr id="21" name="TextBox 20"/>
          <p:cNvSpPr txBox="1"/>
          <p:nvPr/>
        </p:nvSpPr>
        <p:spPr>
          <a:xfrm>
            <a:off x="4678527" y="3520440"/>
            <a:ext cx="2834640" cy="457200"/>
          </a:xfrm>
          <a:prstGeom prst="rect">
            <a:avLst/>
          </a:prstGeom>
          <a:noFill/>
        </p:spPr>
        <p:txBody>
          <a:bodyPr wrap="square" lIns="0" tIns="0" rIns="0" bIns="0" anchor="t">
            <a:spAutoFit/>
          </a:bodyPr>
          <a:lstStyle/>
          <a:p>
            <a:pPr algn="ctr">
              <a:lnSpc>
                <a:spcPct val="100000"/>
              </a:lnSpc>
            </a:pPr>
            <a:r>
              <a:rPr sz="1050" b="0" i="0">
                <a:solidFill>
                  <a:srgbClr val="64748B"/>
                </a:solidFill>
                <a:latin typeface="Consolas"/>
              </a:rPr>
              <a:t>verify_portability.py</a:t>
            </a:r>
          </a:p>
        </p:txBody>
      </p:sp>
      <p:sp>
        <p:nvSpPr>
          <p:cNvPr id="22" name="Rounded Rectangle 21"/>
          <p:cNvSpPr/>
          <p:nvPr/>
        </p:nvSpPr>
        <p:spPr>
          <a:xfrm>
            <a:off x="8153247" y="1828800"/>
            <a:ext cx="3383280" cy="2377440"/>
          </a:xfrm>
          <a:prstGeom prst="roundRect">
            <a:avLst>
              <a:gd name="adj" fmla="val 14000"/>
            </a:avLst>
          </a:prstGeom>
          <a:solidFill>
            <a:srgbClr val="0D1524">
              <a:alpha val="60000"/>
            </a:srgbClr>
          </a:solidFill>
          <a:ln w="12700">
            <a:solidFill>
              <a:srgbClr val="8B5CF6">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53247" y="2194560"/>
            <a:ext cx="3383280" cy="822960"/>
          </a:xfrm>
          <a:prstGeom prst="rect">
            <a:avLst/>
          </a:prstGeom>
          <a:noFill/>
        </p:spPr>
        <p:txBody>
          <a:bodyPr wrap="square" lIns="0" tIns="0" rIns="0" bIns="0" anchor="t">
            <a:spAutoFit/>
          </a:bodyPr>
          <a:lstStyle/>
          <a:p>
            <a:pPr algn="ctr">
              <a:lnSpc>
                <a:spcPct val="100000"/>
              </a:lnSpc>
            </a:pPr>
            <a:r>
              <a:rPr sz="3800" b="1" i="0">
                <a:solidFill>
                  <a:srgbClr val="8B5CF6"/>
                </a:solidFill>
                <a:latin typeface="Aptos Display"/>
              </a:rPr>
              <a:t>BUILD OK</a:t>
            </a:r>
          </a:p>
        </p:txBody>
      </p:sp>
      <p:sp>
        <p:nvSpPr>
          <p:cNvPr id="24" name="TextBox 23"/>
          <p:cNvSpPr txBox="1"/>
          <p:nvPr/>
        </p:nvSpPr>
        <p:spPr>
          <a:xfrm>
            <a:off x="8427567" y="3108960"/>
            <a:ext cx="2834640" cy="365760"/>
          </a:xfrm>
          <a:prstGeom prst="rect">
            <a:avLst/>
          </a:prstGeom>
          <a:noFill/>
        </p:spPr>
        <p:txBody>
          <a:bodyPr wrap="square" lIns="0" tIns="0" rIns="0" bIns="0" anchor="t">
            <a:spAutoFit/>
          </a:bodyPr>
          <a:lstStyle/>
          <a:p>
            <a:pPr algn="ctr">
              <a:lnSpc>
                <a:spcPct val="100000"/>
              </a:lnSpc>
            </a:pPr>
            <a:r>
              <a:rPr sz="1350" b="1" i="0">
                <a:solidFill>
                  <a:srgbClr val="F7FAFC"/>
                </a:solidFill>
                <a:latin typeface="Aptos"/>
              </a:rPr>
              <a:t>Frontend production build</a:t>
            </a:r>
          </a:p>
        </p:txBody>
      </p:sp>
      <p:sp>
        <p:nvSpPr>
          <p:cNvPr id="25" name="TextBox 24"/>
          <p:cNvSpPr txBox="1"/>
          <p:nvPr/>
        </p:nvSpPr>
        <p:spPr>
          <a:xfrm>
            <a:off x="8427567" y="3520440"/>
            <a:ext cx="2834640" cy="457200"/>
          </a:xfrm>
          <a:prstGeom prst="rect">
            <a:avLst/>
          </a:prstGeom>
          <a:noFill/>
        </p:spPr>
        <p:txBody>
          <a:bodyPr wrap="square" lIns="0" tIns="0" rIns="0" bIns="0" anchor="t">
            <a:spAutoFit/>
          </a:bodyPr>
          <a:lstStyle/>
          <a:p>
            <a:pPr algn="ctr">
              <a:lnSpc>
                <a:spcPct val="100000"/>
              </a:lnSpc>
            </a:pPr>
            <a:r>
              <a:rPr sz="1050" b="0" i="0">
                <a:solidFill>
                  <a:srgbClr val="64748B"/>
                </a:solidFill>
                <a:latin typeface="Consolas"/>
              </a:rPr>
              <a:t>npm run build (Vite)</a:t>
            </a:r>
          </a:p>
        </p:txBody>
      </p:sp>
      <p:sp>
        <p:nvSpPr>
          <p:cNvPr id="26" name="TextBox 25"/>
          <p:cNvSpPr txBox="1"/>
          <p:nvPr/>
        </p:nvSpPr>
        <p:spPr>
          <a:xfrm>
            <a:off x="822960" y="4663440"/>
            <a:ext cx="10515600" cy="457200"/>
          </a:xfrm>
          <a:prstGeom prst="rect">
            <a:avLst/>
          </a:prstGeom>
          <a:noFill/>
        </p:spPr>
        <p:txBody>
          <a:bodyPr wrap="square" lIns="0" tIns="0" rIns="0" bIns="0" anchor="t">
            <a:spAutoFit/>
          </a:bodyPr>
          <a:lstStyle/>
          <a:p>
            <a:pPr algn="ctr">
              <a:lnSpc>
                <a:spcPct val="100000"/>
              </a:lnSpc>
            </a:pPr>
            <a:r>
              <a:rPr sz="1100" b="0" i="0">
                <a:solidFill>
                  <a:srgbClr val="A3B1C6"/>
                </a:solidFill>
                <a:latin typeface="Aptos"/>
              </a:rPr>
              <a:t>Breakdown: health/liveness (5) · access control (17) · policy management (10) · database safety (9) · security validation (41)</a:t>
            </a:r>
          </a:p>
        </p:txBody>
      </p:sp>
      <p:sp>
        <p:nvSpPr>
          <p:cNvPr id="27" name="Rounded Rectangle 26"/>
          <p:cNvSpPr/>
          <p:nvPr/>
        </p:nvSpPr>
        <p:spPr>
          <a:xfrm>
            <a:off x="1463040" y="5349240"/>
            <a:ext cx="9262872" cy="566928"/>
          </a:xfrm>
          <a:prstGeom prst="roundRect">
            <a:avLst>
              <a:gd name="adj" fmla="val 8000"/>
            </a:avLst>
          </a:prstGeom>
          <a:noFill/>
          <a:ln w="12700">
            <a:solidFill>
              <a:srgbClr val="18243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91640" y="5349240"/>
            <a:ext cx="8778240" cy="566928"/>
          </a:xfrm>
          <a:prstGeom prst="rect">
            <a:avLst/>
          </a:prstGeom>
          <a:noFill/>
        </p:spPr>
        <p:txBody>
          <a:bodyPr wrap="square" lIns="0" tIns="0" rIns="0" bIns="0" anchor="ctr">
            <a:spAutoFit/>
          </a:bodyPr>
          <a:lstStyle/>
          <a:p>
            <a:pPr algn="l">
              <a:lnSpc>
                <a:spcPct val="100000"/>
              </a:lnSpc>
            </a:pPr>
            <a:r>
              <a:rPr sz="1150" b="0" i="1">
                <a:solidFill>
                  <a:srgbClr val="22D3EE"/>
                </a:solidFill>
                <a:latin typeface="Aptos"/>
              </a:rPr>
              <a:t>No fabricated benchmarks. No cherry-picked timing. Every figure re-runs from the commands above.</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17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THREAT MODEL</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400" b="1" i="0">
                <a:solidFill>
                  <a:srgbClr val="F7FAFC"/>
                </a:solidFill>
                <a:latin typeface="Aptos Display"/>
              </a:rPr>
              <a:t>Seven documented threats. Seven verified outcomes.</a:t>
            </a:r>
          </a:p>
        </p:txBody>
      </p:sp>
      <p:sp>
        <p:nvSpPr>
          <p:cNvPr id="14" name="Rounded Rectangle 13"/>
          <p:cNvSpPr/>
          <p:nvPr/>
        </p:nvSpPr>
        <p:spPr>
          <a:xfrm>
            <a:off x="582015" y="16002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4895" y="17373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T1</a:t>
            </a:r>
          </a:p>
        </p:txBody>
      </p:sp>
      <p:sp>
        <p:nvSpPr>
          <p:cNvPr id="16" name="TextBox 15"/>
          <p:cNvSpPr txBox="1"/>
          <p:nvPr/>
        </p:nvSpPr>
        <p:spPr>
          <a:xfrm>
            <a:off x="764895" y="20208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Compromised Developer Credentials</a:t>
            </a:r>
          </a:p>
        </p:txBody>
      </p:sp>
      <p:sp>
        <p:nvSpPr>
          <p:cNvPr id="17" name="Rounded Rectangle 16"/>
          <p:cNvSpPr/>
          <p:nvPr/>
        </p:nvSpPr>
        <p:spPr>
          <a:xfrm>
            <a:off x="764895" y="26334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18" name="Rounded Rectangle 17"/>
          <p:cNvSpPr/>
          <p:nvPr/>
        </p:nvSpPr>
        <p:spPr>
          <a:xfrm>
            <a:off x="3389223" y="16002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72103" y="17373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T2</a:t>
            </a:r>
          </a:p>
        </p:txBody>
      </p:sp>
      <p:sp>
        <p:nvSpPr>
          <p:cNvPr id="20" name="TextBox 19"/>
          <p:cNvSpPr txBox="1"/>
          <p:nvPr/>
        </p:nvSpPr>
        <p:spPr>
          <a:xfrm>
            <a:off x="3572103" y="20208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Access From Outside the Trusted VPC</a:t>
            </a:r>
          </a:p>
        </p:txBody>
      </p:sp>
      <p:sp>
        <p:nvSpPr>
          <p:cNvPr id="21" name="Rounded Rectangle 20"/>
          <p:cNvSpPr/>
          <p:nvPr/>
        </p:nvSpPr>
        <p:spPr>
          <a:xfrm>
            <a:off x="3572103" y="26334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22" name="Rounded Rectangle 21"/>
          <p:cNvSpPr/>
          <p:nvPr/>
        </p:nvSpPr>
        <p:spPr>
          <a:xfrm>
            <a:off x="6196431" y="16002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79311" y="17373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T3</a:t>
            </a:r>
          </a:p>
        </p:txBody>
      </p:sp>
      <p:sp>
        <p:nvSpPr>
          <p:cNvPr id="24" name="TextBox 23"/>
          <p:cNvSpPr txBox="1"/>
          <p:nvPr/>
        </p:nvSpPr>
        <p:spPr>
          <a:xfrm>
            <a:off x="6379311" y="20208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Missing MFA</a:t>
            </a:r>
          </a:p>
        </p:txBody>
      </p:sp>
      <p:sp>
        <p:nvSpPr>
          <p:cNvPr id="25" name="Rounded Rectangle 24"/>
          <p:cNvSpPr/>
          <p:nvPr/>
        </p:nvSpPr>
        <p:spPr>
          <a:xfrm>
            <a:off x="6379311" y="26334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26" name="Rounded Rectangle 25"/>
          <p:cNvSpPr/>
          <p:nvPr/>
        </p:nvSpPr>
        <p:spPr>
          <a:xfrm>
            <a:off x="9003639" y="16002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86519" y="17373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T4</a:t>
            </a:r>
          </a:p>
        </p:txBody>
      </p:sp>
      <p:sp>
        <p:nvSpPr>
          <p:cNvPr id="28" name="TextBox 27"/>
          <p:cNvSpPr txBox="1"/>
          <p:nvPr/>
        </p:nvSpPr>
        <p:spPr>
          <a:xfrm>
            <a:off x="9186519" y="20208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Unauthorized Resource Access</a:t>
            </a:r>
          </a:p>
        </p:txBody>
      </p:sp>
      <p:sp>
        <p:nvSpPr>
          <p:cNvPr id="29" name="Rounded Rectangle 28"/>
          <p:cNvSpPr/>
          <p:nvPr/>
        </p:nvSpPr>
        <p:spPr>
          <a:xfrm>
            <a:off x="9186519" y="26334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30" name="Rounded Rectangle 29"/>
          <p:cNvSpPr/>
          <p:nvPr/>
        </p:nvSpPr>
        <p:spPr>
          <a:xfrm>
            <a:off x="582015" y="32004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4895" y="33375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T5</a:t>
            </a:r>
          </a:p>
        </p:txBody>
      </p:sp>
      <p:sp>
        <p:nvSpPr>
          <p:cNvPr id="32" name="TextBox 31"/>
          <p:cNvSpPr txBox="1"/>
          <p:nvPr/>
        </p:nvSpPr>
        <p:spPr>
          <a:xfrm>
            <a:off x="764895" y="36210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Privilege Escalation Attempt</a:t>
            </a:r>
          </a:p>
        </p:txBody>
      </p:sp>
      <p:sp>
        <p:nvSpPr>
          <p:cNvPr id="33" name="Rounded Rectangle 32"/>
          <p:cNvSpPr/>
          <p:nvPr/>
        </p:nvSpPr>
        <p:spPr>
          <a:xfrm>
            <a:off x="764895" y="42336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34" name="Rounded Rectangle 33"/>
          <p:cNvSpPr/>
          <p:nvPr/>
        </p:nvSpPr>
        <p:spPr>
          <a:xfrm>
            <a:off x="3389223" y="3200400"/>
            <a:ext cx="2606040" cy="1417320"/>
          </a:xfrm>
          <a:prstGeom prst="roundRect">
            <a:avLst>
              <a:gd name="adj" fmla="val 12000"/>
            </a:avLst>
          </a:prstGeom>
          <a:solidFill>
            <a:srgbClr val="0D1524">
              <a:alpha val="60000"/>
            </a:srgbClr>
          </a:solidFill>
          <a:ln w="12700">
            <a:solidFill>
              <a:srgbClr val="F87171">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72103" y="3337560"/>
            <a:ext cx="2240280" cy="274320"/>
          </a:xfrm>
          <a:prstGeom prst="rect">
            <a:avLst/>
          </a:prstGeom>
          <a:noFill/>
        </p:spPr>
        <p:txBody>
          <a:bodyPr wrap="square" lIns="0" tIns="0" rIns="0" bIns="0" anchor="t">
            <a:spAutoFit/>
          </a:bodyPr>
          <a:lstStyle/>
          <a:p>
            <a:pPr algn="l">
              <a:lnSpc>
                <a:spcPct val="100000"/>
              </a:lnSpc>
            </a:pPr>
            <a:r>
              <a:rPr sz="1200" b="1" i="0">
                <a:solidFill>
                  <a:srgbClr val="F87171"/>
                </a:solidFill>
                <a:latin typeface="Consolas"/>
              </a:rPr>
              <a:t>T6</a:t>
            </a:r>
          </a:p>
        </p:txBody>
      </p:sp>
      <p:sp>
        <p:nvSpPr>
          <p:cNvPr id="36" name="TextBox 35"/>
          <p:cNvSpPr txBox="1"/>
          <p:nvPr/>
        </p:nvSpPr>
        <p:spPr>
          <a:xfrm>
            <a:off x="3572103" y="36210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Repeated Unauthorized Requests</a:t>
            </a:r>
          </a:p>
        </p:txBody>
      </p:sp>
      <p:sp>
        <p:nvSpPr>
          <p:cNvPr id="37" name="Rounded Rectangle 36"/>
          <p:cNvSpPr/>
          <p:nvPr/>
        </p:nvSpPr>
        <p:spPr>
          <a:xfrm>
            <a:off x="3572103" y="4233672"/>
            <a:ext cx="1280160" cy="292608"/>
          </a:xfrm>
          <a:prstGeom prst="roundRect">
            <a:avLst>
              <a:gd name="adj" fmla="val 50000"/>
            </a:avLst>
          </a:prstGeom>
          <a:solidFill>
            <a:srgbClr val="F87171">
              <a:alpha val="16000"/>
            </a:srgbClr>
          </a:solidFill>
          <a:ln w="12700">
            <a:solidFill>
              <a:srgbClr val="F87171">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87171"/>
                </a:solidFill>
                <a:latin typeface="Aptos"/>
              </a:rPr>
              <a:t>DENY</a:t>
            </a:r>
          </a:p>
        </p:txBody>
      </p:sp>
      <p:sp>
        <p:nvSpPr>
          <p:cNvPr id="38" name="Rounded Rectangle 37"/>
          <p:cNvSpPr/>
          <p:nvPr/>
        </p:nvSpPr>
        <p:spPr>
          <a:xfrm>
            <a:off x="6196431" y="3200400"/>
            <a:ext cx="2606040" cy="1417320"/>
          </a:xfrm>
          <a:prstGeom prst="roundRect">
            <a:avLst>
              <a:gd name="adj" fmla="val 12000"/>
            </a:avLst>
          </a:prstGeom>
          <a:solidFill>
            <a:srgbClr val="0D1524">
              <a:alpha val="60000"/>
            </a:srgbClr>
          </a:solidFill>
          <a:ln w="12700">
            <a:solidFill>
              <a:srgbClr val="FBBF2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79311" y="3337560"/>
            <a:ext cx="2240280" cy="274320"/>
          </a:xfrm>
          <a:prstGeom prst="rect">
            <a:avLst/>
          </a:prstGeom>
          <a:noFill/>
        </p:spPr>
        <p:txBody>
          <a:bodyPr wrap="square" lIns="0" tIns="0" rIns="0" bIns="0" anchor="t">
            <a:spAutoFit/>
          </a:bodyPr>
          <a:lstStyle/>
          <a:p>
            <a:pPr algn="l">
              <a:lnSpc>
                <a:spcPct val="100000"/>
              </a:lnSpc>
            </a:pPr>
            <a:r>
              <a:rPr sz="1200" b="1" i="0">
                <a:solidFill>
                  <a:srgbClr val="FBBF24"/>
                </a:solidFill>
                <a:latin typeface="Consolas"/>
              </a:rPr>
              <a:t>T7</a:t>
            </a:r>
          </a:p>
        </p:txBody>
      </p:sp>
      <p:sp>
        <p:nvSpPr>
          <p:cNvPr id="40" name="TextBox 39"/>
          <p:cNvSpPr txBox="1"/>
          <p:nvPr/>
        </p:nvSpPr>
        <p:spPr>
          <a:xfrm>
            <a:off x="6379311" y="3621024"/>
            <a:ext cx="2240280" cy="594360"/>
          </a:xfrm>
          <a:prstGeom prst="rect">
            <a:avLst/>
          </a:prstGeom>
          <a:noFill/>
        </p:spPr>
        <p:txBody>
          <a:bodyPr wrap="square" lIns="0" tIns="0" rIns="0" bIns="0" anchor="t">
            <a:spAutoFit/>
          </a:bodyPr>
          <a:lstStyle/>
          <a:p>
            <a:pPr algn="l">
              <a:lnSpc>
                <a:spcPct val="105000"/>
              </a:lnSpc>
            </a:pPr>
            <a:r>
              <a:rPr sz="1200" b="1" i="0">
                <a:solidFill>
                  <a:srgbClr val="F7FAFC"/>
                </a:solidFill>
                <a:latin typeface="Aptos"/>
              </a:rPr>
              <a:t>Sensitive Storage Exposure</a:t>
            </a:r>
          </a:p>
        </p:txBody>
      </p:sp>
      <p:sp>
        <p:nvSpPr>
          <p:cNvPr id="41" name="Rounded Rectangle 40"/>
          <p:cNvSpPr/>
          <p:nvPr/>
        </p:nvSpPr>
        <p:spPr>
          <a:xfrm>
            <a:off x="6379311" y="4233672"/>
            <a:ext cx="1280160" cy="292608"/>
          </a:xfrm>
          <a:prstGeom prst="roundRect">
            <a:avLst>
              <a:gd name="adj" fmla="val 50000"/>
            </a:avLst>
          </a:prstGeom>
          <a:solidFill>
            <a:srgbClr val="FBBF24">
              <a:alpha val="16000"/>
            </a:srgbClr>
          </a:solidFill>
          <a:ln w="12700">
            <a:solidFill>
              <a:srgbClr val="FBBF24">
                <a:alpha val="85000"/>
              </a:srgbClr>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BF24"/>
                </a:solidFill>
                <a:latin typeface="Aptos"/>
              </a:rPr>
              <a:t>WARNING</a:t>
            </a:r>
          </a:p>
        </p:txBody>
      </p:sp>
      <p:sp>
        <p:nvSpPr>
          <p:cNvPr id="42" name="TextBox 41"/>
          <p:cNvSpPr txBox="1"/>
          <p:nvPr/>
        </p:nvSpPr>
        <p:spPr>
          <a:xfrm>
            <a:off x="582015" y="4846320"/>
            <a:ext cx="7818120" cy="365760"/>
          </a:xfrm>
          <a:prstGeom prst="rect">
            <a:avLst/>
          </a:prstGeom>
          <a:noFill/>
        </p:spPr>
        <p:txBody>
          <a:bodyPr wrap="square" lIns="0" tIns="0" rIns="0" bIns="0" anchor="t">
            <a:spAutoFit/>
          </a:bodyPr>
          <a:lstStyle/>
          <a:p>
            <a:pPr algn="l">
              <a:lnSpc>
                <a:spcPct val="110000"/>
              </a:lnSpc>
            </a:pPr>
            <a:r>
              <a:rPr sz="1050" b="0" i="1">
                <a:solidFill>
                  <a:srgbClr val="64748B"/>
                </a:solidFill>
                <a:latin typeface="Aptos"/>
              </a:rPr>
              <a:t>T7 is deliberately not a fabricated auto-deny -- it surfaces a visible administrative warning, because the real access decision is still governed by the documented decision rules.</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18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ENGINEERING BOUNDARIES</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What this is not</a:t>
            </a:r>
          </a:p>
        </p:txBody>
      </p:sp>
      <p:sp>
        <p:nvSpPr>
          <p:cNvPr id="14" name="TextBox 13"/>
          <p:cNvSpPr txBox="1"/>
          <p:nvPr/>
        </p:nvSpPr>
        <p:spPr>
          <a:xfrm>
            <a:off x="1005840" y="1691640"/>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15" name="TextBox 14"/>
          <p:cNvSpPr txBox="1"/>
          <p:nvPr/>
        </p:nvSpPr>
        <p:spPr>
          <a:xfrm>
            <a:off x="1371600" y="1691640"/>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Local simulation only -- no connection to a real cloud provider</a:t>
            </a:r>
          </a:p>
        </p:txBody>
      </p:sp>
      <p:sp>
        <p:nvSpPr>
          <p:cNvPr id="16" name="TextBox 15"/>
          <p:cNvSpPr txBox="1"/>
          <p:nvPr/>
        </p:nvSpPr>
        <p:spPr>
          <a:xfrm>
            <a:off x="1005840" y="2176272"/>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17" name="TextBox 16"/>
          <p:cNvSpPr txBox="1"/>
          <p:nvPr/>
        </p:nvSpPr>
        <p:spPr>
          <a:xfrm>
            <a:off x="1371600" y="2176272"/>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No real AWS integration, credentials, or account, anywhere</a:t>
            </a:r>
          </a:p>
        </p:txBody>
      </p:sp>
      <p:sp>
        <p:nvSpPr>
          <p:cNvPr id="18" name="TextBox 17"/>
          <p:cNvSpPr txBox="1"/>
          <p:nvPr/>
        </p:nvSpPr>
        <p:spPr>
          <a:xfrm>
            <a:off x="1005840" y="2660904"/>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19" name="TextBox 18"/>
          <p:cNvSpPr txBox="1"/>
          <p:nvPr/>
        </p:nvSpPr>
        <p:spPr>
          <a:xfrm>
            <a:off x="1371600" y="2660904"/>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Risk scoring is rule-based, not machine-learning-based</a:t>
            </a:r>
          </a:p>
        </p:txBody>
      </p:sp>
      <p:sp>
        <p:nvSpPr>
          <p:cNvPr id="20" name="TextBox 19"/>
          <p:cNvSpPr txBox="1"/>
          <p:nvPr/>
        </p:nvSpPr>
        <p:spPr>
          <a:xfrm>
            <a:off x="1005840" y="3145536"/>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21" name="TextBox 20"/>
          <p:cNvSpPr txBox="1"/>
          <p:nvPr/>
        </p:nvSpPr>
        <p:spPr>
          <a:xfrm>
            <a:off x="1371600" y="3145536"/>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No production-grade rate limiting</a:t>
            </a:r>
          </a:p>
        </p:txBody>
      </p:sp>
      <p:sp>
        <p:nvSpPr>
          <p:cNvPr id="22" name="TextBox 21"/>
          <p:cNvSpPr txBox="1"/>
          <p:nvPr/>
        </p:nvSpPr>
        <p:spPr>
          <a:xfrm>
            <a:off x="1005840" y="3630168"/>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23" name="TextBox 22"/>
          <p:cNvSpPr txBox="1"/>
          <p:nvPr/>
        </p:nvSpPr>
        <p:spPr>
          <a:xfrm>
            <a:off x="1371600" y="3630168"/>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SQLite, not a production distributed database</a:t>
            </a:r>
          </a:p>
        </p:txBody>
      </p:sp>
      <p:sp>
        <p:nvSpPr>
          <p:cNvPr id="24" name="TextBox 23"/>
          <p:cNvSpPr txBox="1"/>
          <p:nvPr/>
        </p:nvSpPr>
        <p:spPr>
          <a:xfrm>
            <a:off x="1005840" y="4114800"/>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25" name="TextBox 24"/>
          <p:cNvSpPr txBox="1"/>
          <p:nvPr/>
        </p:nvSpPr>
        <p:spPr>
          <a:xfrm>
            <a:off x="1371600" y="4114800"/>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Lightweight schema-version check, not a full migration framework</a:t>
            </a:r>
          </a:p>
        </p:txBody>
      </p:sp>
      <p:sp>
        <p:nvSpPr>
          <p:cNvPr id="26" name="TextBox 25"/>
          <p:cNvSpPr txBox="1"/>
          <p:nvPr/>
        </p:nvSpPr>
        <p:spPr>
          <a:xfrm>
            <a:off x="1005840" y="4599432"/>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27" name="TextBox 26"/>
          <p:cNvSpPr txBox="1"/>
          <p:nvPr/>
        </p:nvSpPr>
        <p:spPr>
          <a:xfrm>
            <a:off x="1371600" y="4599432"/>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No production identity provider (OAuth / OIDC / SAML)</a:t>
            </a:r>
          </a:p>
        </p:txBody>
      </p:sp>
      <p:sp>
        <p:nvSpPr>
          <p:cNvPr id="28" name="TextBox 27"/>
          <p:cNvSpPr txBox="1"/>
          <p:nvPr/>
        </p:nvSpPr>
        <p:spPr>
          <a:xfrm>
            <a:off x="1005840" y="5084064"/>
            <a:ext cx="320040" cy="365760"/>
          </a:xfrm>
          <a:prstGeom prst="rect">
            <a:avLst/>
          </a:prstGeom>
          <a:noFill/>
        </p:spPr>
        <p:txBody>
          <a:bodyPr wrap="square" lIns="0" tIns="0" rIns="0" bIns="0" anchor="t">
            <a:spAutoFit/>
          </a:bodyPr>
          <a:lstStyle/>
          <a:p>
            <a:pPr algn="l">
              <a:lnSpc>
                <a:spcPct val="100000"/>
              </a:lnSpc>
            </a:pPr>
            <a:r>
              <a:rPr sz="1600" b="0" i="0">
                <a:solidFill>
                  <a:srgbClr val="F87171"/>
                </a:solidFill>
                <a:latin typeface="Aptos"/>
              </a:rPr>
              <a:t>–</a:t>
            </a:r>
          </a:p>
        </p:txBody>
      </p:sp>
      <p:sp>
        <p:nvSpPr>
          <p:cNvPr id="29" name="TextBox 28"/>
          <p:cNvSpPr txBox="1"/>
          <p:nvPr/>
        </p:nvSpPr>
        <p:spPr>
          <a:xfrm>
            <a:off x="1371600" y="5084064"/>
            <a:ext cx="9601200" cy="365760"/>
          </a:xfrm>
          <a:prstGeom prst="rect">
            <a:avLst/>
          </a:prstGeom>
          <a:noFill/>
        </p:spPr>
        <p:txBody>
          <a:bodyPr wrap="square" lIns="0" tIns="0" rIns="0" bIns="0" anchor="ctr">
            <a:spAutoFit/>
          </a:bodyPr>
          <a:lstStyle/>
          <a:p>
            <a:pPr algn="l">
              <a:lnSpc>
                <a:spcPct val="100000"/>
              </a:lnSpc>
            </a:pPr>
            <a:r>
              <a:rPr sz="1400" b="0" i="0">
                <a:solidFill>
                  <a:srgbClr val="A3B1C6"/>
                </a:solidFill>
                <a:latin typeface="Aptos"/>
              </a:rPr>
              <a:t>No real cloud telemetry (e.g. AWS CloudTrail) ingested</a:t>
            </a:r>
          </a:p>
        </p:txBody>
      </p:sp>
      <p:cxnSp>
        <p:nvCxnSpPr>
          <p:cNvPr id="30" name="Connector 29"/>
          <p:cNvCxnSpPr/>
          <p:nvPr/>
        </p:nvCxnSpPr>
        <p:spPr>
          <a:xfrm>
            <a:off x="822960" y="5660136"/>
            <a:ext cx="1054303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2960" y="5797296"/>
            <a:ext cx="10515600" cy="457200"/>
          </a:xfrm>
          <a:prstGeom prst="rect">
            <a:avLst/>
          </a:prstGeom>
          <a:noFill/>
        </p:spPr>
        <p:txBody>
          <a:bodyPr wrap="square" lIns="0" tIns="0" rIns="0" bIns="0" anchor="t">
            <a:spAutoFit/>
          </a:bodyPr>
          <a:lstStyle/>
          <a:p>
            <a:pPr algn="ctr">
              <a:lnSpc>
                <a:spcPct val="100000"/>
              </a:lnSpc>
            </a:pPr>
            <a:r>
              <a:rPr sz="1300" b="0" i="1">
                <a:solidFill>
                  <a:srgbClr val="22D3EE"/>
                </a:solidFill>
                <a:latin typeface="Aptos"/>
              </a:rPr>
              <a:t>These are engineering boundaries of an academic prototype -- stated plainly, not hidden.</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6419088"/>
            <a:ext cx="10817352" cy="0"/>
          </a:xfrm>
          <a:prstGeom prst="line">
            <a:avLst/>
          </a:prstGeom>
          <a:ln w="9525">
            <a:solidFill>
              <a:srgbClr val="182438">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64808"/>
            <a:ext cx="4572000" cy="274320"/>
          </a:xfrm>
          <a:prstGeom prst="rect">
            <a:avLst/>
          </a:prstGeom>
          <a:noFill/>
        </p:spPr>
        <p:txBody>
          <a:bodyPr wrap="square" lIns="0" tIns="0" rIns="0" bIns="0" anchor="t">
            <a:spAutoFit/>
          </a:bodyPr>
          <a:lstStyle/>
          <a:p>
            <a:pPr algn="l">
              <a:lnSpc>
                <a:spcPct val="100000"/>
              </a:lnSpc>
            </a:pPr>
            <a:r>
              <a:rPr sz="900" b="1" i="0">
                <a:solidFill>
                  <a:srgbClr val="64748B"/>
                </a:solidFill>
                <a:latin typeface="Aptos"/>
              </a:rPr>
              <a:t>CLOUDCONTEXTGUARD</a:t>
            </a:r>
          </a:p>
        </p:txBody>
      </p:sp>
      <p:sp>
        <p:nvSpPr>
          <p:cNvPr id="11" name="TextBox 10"/>
          <p:cNvSpPr txBox="1"/>
          <p:nvPr/>
        </p:nvSpPr>
        <p:spPr>
          <a:xfrm>
            <a:off x="10241280" y="6464808"/>
            <a:ext cx="1280160" cy="274320"/>
          </a:xfrm>
          <a:prstGeom prst="rect">
            <a:avLst/>
          </a:prstGeom>
          <a:noFill/>
        </p:spPr>
        <p:txBody>
          <a:bodyPr wrap="square" lIns="0" tIns="0" rIns="0" bIns="0" anchor="t">
            <a:spAutoFit/>
          </a:bodyPr>
          <a:lstStyle/>
          <a:p>
            <a:pPr algn="r">
              <a:lnSpc>
                <a:spcPct val="100000"/>
              </a:lnSpc>
            </a:pPr>
            <a:r>
              <a:rPr sz="900" b="1" i="0">
                <a:solidFill>
                  <a:srgbClr val="64748B"/>
                </a:solidFill>
                <a:latin typeface="Aptos"/>
              </a:rPr>
              <a:t>19 / 20</a:t>
            </a:r>
          </a:p>
        </p:txBody>
      </p:sp>
      <p:sp>
        <p:nvSpPr>
          <p:cNvPr id="12" name="TextBox 11"/>
          <p:cNvSpPr txBox="1"/>
          <p:nvPr/>
        </p:nvSpPr>
        <p:spPr>
          <a:xfrm>
            <a:off x="685800" y="457200"/>
            <a:ext cx="914400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Aptos"/>
              </a:rPr>
              <a:t>ROADMAP</a:t>
            </a:r>
          </a:p>
        </p:txBody>
      </p:sp>
      <p:sp>
        <p:nvSpPr>
          <p:cNvPr id="13" name="TextBox 12"/>
          <p:cNvSpPr txBox="1"/>
          <p:nvPr/>
        </p:nvSpPr>
        <p:spPr>
          <a:xfrm>
            <a:off x="685800" y="777240"/>
            <a:ext cx="10789920" cy="914400"/>
          </a:xfrm>
          <a:prstGeom prst="rect">
            <a:avLst/>
          </a:prstGeom>
          <a:noFill/>
        </p:spPr>
        <p:txBody>
          <a:bodyPr wrap="square" lIns="0" tIns="0" rIns="0" bIns="0" anchor="t">
            <a:spAutoFit/>
          </a:bodyPr>
          <a:lstStyle/>
          <a:p>
            <a:pPr algn="l">
              <a:lnSpc>
                <a:spcPct val="100000"/>
              </a:lnSpc>
            </a:pPr>
            <a:r>
              <a:rPr sz="2700" b="1" i="0">
                <a:solidFill>
                  <a:srgbClr val="F7FAFC"/>
                </a:solidFill>
                <a:latin typeface="Aptos Display"/>
              </a:rPr>
              <a:t>From simulation to production</a:t>
            </a:r>
          </a:p>
        </p:txBody>
      </p:sp>
      <p:cxnSp>
        <p:nvCxnSpPr>
          <p:cNvPr id="14" name="Connector 13"/>
          <p:cNvCxnSpPr/>
          <p:nvPr/>
        </p:nvCxnSpPr>
        <p:spPr>
          <a:xfrm>
            <a:off x="1417320" y="1828800"/>
            <a:ext cx="0" cy="3794760"/>
          </a:xfrm>
          <a:prstGeom prst="line">
            <a:avLst/>
          </a:prstGeom>
          <a:ln w="19050">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316736" y="1728216"/>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83080" y="1664208"/>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01</a:t>
            </a:r>
          </a:p>
        </p:txBody>
      </p:sp>
      <p:sp>
        <p:nvSpPr>
          <p:cNvPr id="17" name="TextBox 16"/>
          <p:cNvSpPr txBox="1"/>
          <p:nvPr/>
        </p:nvSpPr>
        <p:spPr>
          <a:xfrm>
            <a:off x="2377440" y="1645920"/>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Real AWS IAM Integration</a:t>
            </a:r>
          </a:p>
        </p:txBody>
      </p:sp>
      <p:sp>
        <p:nvSpPr>
          <p:cNvPr id="18" name="TextBox 17"/>
          <p:cNvSpPr txBox="1"/>
          <p:nvPr/>
        </p:nvSpPr>
        <p:spPr>
          <a:xfrm>
            <a:off x="6537959" y="1673352"/>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Map simulated roles/permissions onto real IAM policy evaluation</a:t>
            </a:r>
          </a:p>
        </p:txBody>
      </p:sp>
      <p:sp>
        <p:nvSpPr>
          <p:cNvPr id="19" name="Oval 18"/>
          <p:cNvSpPr/>
          <p:nvPr/>
        </p:nvSpPr>
        <p:spPr>
          <a:xfrm>
            <a:off x="1316736" y="2487168"/>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83080" y="2423160"/>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02</a:t>
            </a:r>
          </a:p>
        </p:txBody>
      </p:sp>
      <p:sp>
        <p:nvSpPr>
          <p:cNvPr id="21" name="TextBox 20"/>
          <p:cNvSpPr txBox="1"/>
          <p:nvPr/>
        </p:nvSpPr>
        <p:spPr>
          <a:xfrm>
            <a:off x="2377440" y="2404872"/>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AWS VPC + S3 Integration</a:t>
            </a:r>
          </a:p>
        </p:txBody>
      </p:sp>
      <p:sp>
        <p:nvSpPr>
          <p:cNvPr id="22" name="TextBox 21"/>
          <p:cNvSpPr txBox="1"/>
          <p:nvPr/>
        </p:nvSpPr>
        <p:spPr>
          <a:xfrm>
            <a:off x="6537959" y="2432304"/>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Real network-origin verification via VPC endpoints; the same model applied to real S3 bucket policies</a:t>
            </a:r>
          </a:p>
        </p:txBody>
      </p:sp>
      <p:sp>
        <p:nvSpPr>
          <p:cNvPr id="23" name="Oval 22"/>
          <p:cNvSpPr/>
          <p:nvPr/>
        </p:nvSpPr>
        <p:spPr>
          <a:xfrm>
            <a:off x="1316736" y="3246120"/>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83080" y="3182112"/>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03</a:t>
            </a:r>
          </a:p>
        </p:txBody>
      </p:sp>
      <p:sp>
        <p:nvSpPr>
          <p:cNvPr id="25" name="TextBox 24"/>
          <p:cNvSpPr txBox="1"/>
          <p:nvPr/>
        </p:nvSpPr>
        <p:spPr>
          <a:xfrm>
            <a:off x="2377440" y="3163824"/>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CloudTrail Ingestion</a:t>
            </a:r>
          </a:p>
        </p:txBody>
      </p:sp>
      <p:sp>
        <p:nvSpPr>
          <p:cNvPr id="26" name="TextBox 25"/>
          <p:cNvSpPr txBox="1"/>
          <p:nvPr/>
        </p:nvSpPr>
        <p:spPr>
          <a:xfrm>
            <a:off x="6537959" y="3191256"/>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Replace simulated audit data with real AWS event data; push events live instead of polling</a:t>
            </a:r>
          </a:p>
        </p:txBody>
      </p:sp>
      <p:sp>
        <p:nvSpPr>
          <p:cNvPr id="27" name="Oval 26"/>
          <p:cNvSpPr/>
          <p:nvPr/>
        </p:nvSpPr>
        <p:spPr>
          <a:xfrm>
            <a:off x="1316736" y="4005072"/>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83080" y="3941063"/>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04</a:t>
            </a:r>
          </a:p>
        </p:txBody>
      </p:sp>
      <p:sp>
        <p:nvSpPr>
          <p:cNvPr id="29" name="TextBox 28"/>
          <p:cNvSpPr txBox="1"/>
          <p:nvPr/>
        </p:nvSpPr>
        <p:spPr>
          <a:xfrm>
            <a:off x="2377440" y="3922776"/>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Identity Provider Integration</a:t>
            </a:r>
          </a:p>
        </p:txBody>
      </p:sp>
      <p:sp>
        <p:nvSpPr>
          <p:cNvPr id="30" name="TextBox 29"/>
          <p:cNvSpPr txBox="1"/>
          <p:nvPr/>
        </p:nvSpPr>
        <p:spPr>
          <a:xfrm>
            <a:off x="6537959" y="3950208"/>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OAuth / OIDC / SAML in place of local identity rows</a:t>
            </a:r>
          </a:p>
        </p:txBody>
      </p:sp>
      <p:sp>
        <p:nvSpPr>
          <p:cNvPr id="31" name="Oval 30"/>
          <p:cNvSpPr/>
          <p:nvPr/>
        </p:nvSpPr>
        <p:spPr>
          <a:xfrm>
            <a:off x="1316736" y="4764024"/>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783080" y="4700016"/>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05</a:t>
            </a:r>
          </a:p>
        </p:txBody>
      </p:sp>
      <p:sp>
        <p:nvSpPr>
          <p:cNvPr id="33" name="TextBox 32"/>
          <p:cNvSpPr txBox="1"/>
          <p:nvPr/>
        </p:nvSpPr>
        <p:spPr>
          <a:xfrm>
            <a:off x="2377440" y="4681728"/>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Policy-as-Code</a:t>
            </a:r>
          </a:p>
        </p:txBody>
      </p:sp>
      <p:sp>
        <p:nvSpPr>
          <p:cNvPr id="34" name="TextBox 33"/>
          <p:cNvSpPr txBox="1"/>
          <p:nvPr/>
        </p:nvSpPr>
        <p:spPr>
          <a:xfrm>
            <a:off x="6537959" y="4709160"/>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Terraform / IaC-managed policies outside the application database</a:t>
            </a:r>
          </a:p>
        </p:txBody>
      </p:sp>
      <p:sp>
        <p:nvSpPr>
          <p:cNvPr id="35" name="Oval 34"/>
          <p:cNvSpPr/>
          <p:nvPr/>
        </p:nvSpPr>
        <p:spPr>
          <a:xfrm>
            <a:off x="1316736" y="5522976"/>
            <a:ext cx="201168" cy="201168"/>
          </a:xfrm>
          <a:prstGeom prst="ellipse">
            <a:avLst/>
          </a:prstGeom>
          <a:solidFill>
            <a:srgbClr val="22D3EE">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783080" y="5458968"/>
            <a:ext cx="640080" cy="320040"/>
          </a:xfrm>
          <a:prstGeom prst="rect">
            <a:avLst/>
          </a:prstGeom>
          <a:noFill/>
        </p:spPr>
        <p:txBody>
          <a:bodyPr wrap="square" lIns="0" tIns="0" rIns="0" bIns="0" anchor="t">
            <a:spAutoFit/>
          </a:bodyPr>
          <a:lstStyle/>
          <a:p>
            <a:pPr algn="l">
              <a:lnSpc>
                <a:spcPct val="100000"/>
              </a:lnSpc>
            </a:pPr>
            <a:r>
              <a:rPr sz="1300" b="1" i="0">
                <a:solidFill>
                  <a:srgbClr val="22D3EE"/>
                </a:solidFill>
                <a:latin typeface="Consolas"/>
              </a:rPr>
              <a:t>06</a:t>
            </a:r>
          </a:p>
        </p:txBody>
      </p:sp>
      <p:sp>
        <p:nvSpPr>
          <p:cNvPr id="37" name="TextBox 36"/>
          <p:cNvSpPr txBox="1"/>
          <p:nvPr/>
        </p:nvSpPr>
        <p:spPr>
          <a:xfrm>
            <a:off x="2377440" y="5440680"/>
            <a:ext cx="4023360" cy="320040"/>
          </a:xfrm>
          <a:prstGeom prst="rect">
            <a:avLst/>
          </a:prstGeom>
          <a:noFill/>
        </p:spPr>
        <p:txBody>
          <a:bodyPr wrap="square" lIns="0" tIns="0" rIns="0" bIns="0" anchor="t">
            <a:spAutoFit/>
          </a:bodyPr>
          <a:lstStyle/>
          <a:p>
            <a:pPr algn="l">
              <a:lnSpc>
                <a:spcPct val="100000"/>
              </a:lnSpc>
            </a:pPr>
            <a:r>
              <a:rPr sz="1450" b="1" i="0">
                <a:solidFill>
                  <a:srgbClr val="F7FAFC"/>
                </a:solidFill>
                <a:latin typeface="Aptos"/>
              </a:rPr>
              <a:t>ML-Assisted Risk</a:t>
            </a:r>
          </a:p>
        </p:txBody>
      </p:sp>
      <p:sp>
        <p:nvSpPr>
          <p:cNvPr id="38" name="TextBox 37"/>
          <p:cNvSpPr txBox="1"/>
          <p:nvPr/>
        </p:nvSpPr>
        <p:spPr>
          <a:xfrm>
            <a:off x="6537959" y="5468112"/>
            <a:ext cx="5760720" cy="548640"/>
          </a:xfrm>
          <a:prstGeom prst="rect">
            <a:avLst/>
          </a:prstGeom>
          <a:noFill/>
        </p:spPr>
        <p:txBody>
          <a:bodyPr wrap="square" lIns="0" tIns="0" rIns="0" bIns="0" anchor="t">
            <a:spAutoFit/>
          </a:bodyPr>
          <a:lstStyle/>
          <a:p>
            <a:pPr algn="l">
              <a:lnSpc>
                <a:spcPct val="110000"/>
              </a:lnSpc>
            </a:pPr>
            <a:r>
              <a:rPr sz="1050" b="0" i="0">
                <a:solidFill>
                  <a:srgbClr val="A3B1C6"/>
                </a:solidFill>
                <a:latin typeface="Aptos"/>
              </a:rPr>
              <a:t>Anomaly detection as a complement to, not a replacement for, the current rule-based engine</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12289536" cy="6949440"/>
          </a:xfrm>
          <a:prstGeom prst="rect">
            <a:avLst/>
          </a:prstGeom>
          <a:solidFill>
            <a:srgbClr val="060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366760" y="-2788920"/>
            <a:ext cx="5943600" cy="59436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240280" y="4160520"/>
            <a:ext cx="5029200" cy="5029200"/>
          </a:xfrm>
          <a:prstGeom prst="ellipse">
            <a:avLst/>
          </a:prstGeom>
          <a:solidFill>
            <a:srgbClr val="8B5CF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411480" y="384048"/>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384048"/>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484864" y="6473952"/>
            <a:ext cx="292608" cy="0"/>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777472" y="6181344"/>
            <a:ext cx="0" cy="292608"/>
          </a:xfrm>
          <a:prstGeom prst="line">
            <a:avLst/>
          </a:prstGeom>
          <a:ln w="15875">
            <a:solidFill>
              <a:srgbClr val="243550">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148839" y="-411480"/>
            <a:ext cx="7772400" cy="7772400"/>
          </a:xfrm>
          <a:prstGeom prst="ellipse">
            <a:avLst/>
          </a:prstGeom>
          <a:solidFill>
            <a:srgbClr val="22D3E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828800"/>
            <a:ext cx="10515600" cy="914400"/>
          </a:xfrm>
          <a:prstGeom prst="rect">
            <a:avLst/>
          </a:prstGeom>
          <a:noFill/>
        </p:spPr>
        <p:txBody>
          <a:bodyPr wrap="square" lIns="0" tIns="0" rIns="0" bIns="0" anchor="t">
            <a:spAutoFit/>
          </a:bodyPr>
          <a:lstStyle/>
          <a:p>
            <a:pPr algn="ctr">
              <a:lnSpc>
                <a:spcPct val="100000"/>
              </a:lnSpc>
            </a:pPr>
            <a:r>
              <a:rPr sz="3200" b="1" i="0">
                <a:solidFill>
                  <a:srgbClr val="A3B1C6"/>
                </a:solidFill>
                <a:latin typeface="Aptos Display"/>
              </a:rPr>
              <a:t>IAM TELLS US WHO CAN ACCESS.</a:t>
            </a:r>
          </a:p>
        </p:txBody>
      </p:sp>
      <p:sp>
        <p:nvSpPr>
          <p:cNvPr id="11" name="TextBox 10"/>
          <p:cNvSpPr txBox="1"/>
          <p:nvPr/>
        </p:nvSpPr>
        <p:spPr>
          <a:xfrm>
            <a:off x="822960" y="2514600"/>
            <a:ext cx="10515600" cy="1005840"/>
          </a:xfrm>
          <a:prstGeom prst="rect">
            <a:avLst/>
          </a:prstGeom>
          <a:noFill/>
        </p:spPr>
        <p:txBody>
          <a:bodyPr wrap="square" lIns="0" tIns="0" rIns="0" bIns="0" anchor="t">
            <a:spAutoFit/>
          </a:bodyPr>
          <a:lstStyle/>
          <a:p>
            <a:pPr algn="ctr">
              <a:lnSpc>
                <a:spcPct val="100000"/>
              </a:lnSpc>
            </a:pPr>
            <a:r>
              <a:rPr sz="3200" b="1" i="0">
                <a:solidFill>
                  <a:srgbClr val="22D3EE"/>
                </a:solidFill>
                <a:latin typeface="Aptos Display"/>
              </a:rPr>
              <a:t>CONTEXT TELLS US WHETHER THEY SHOULD.</a:t>
            </a:r>
          </a:p>
        </p:txBody>
      </p:sp>
      <p:cxnSp>
        <p:nvCxnSpPr>
          <p:cNvPr id="12" name="Connector 11"/>
          <p:cNvCxnSpPr/>
          <p:nvPr/>
        </p:nvCxnSpPr>
        <p:spPr>
          <a:xfrm>
            <a:off x="5184648" y="3794760"/>
            <a:ext cx="1828800" cy="0"/>
          </a:xfrm>
          <a:prstGeom prst="line">
            <a:avLst/>
          </a:prstGeom>
          <a:ln w="15875">
            <a:solidFill>
              <a:srgbClr val="243550">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114800"/>
            <a:ext cx="10515600" cy="502920"/>
          </a:xfrm>
          <a:prstGeom prst="rect">
            <a:avLst/>
          </a:prstGeom>
          <a:noFill/>
        </p:spPr>
        <p:txBody>
          <a:bodyPr wrap="square" lIns="0" tIns="0" rIns="0" bIns="0" anchor="t">
            <a:spAutoFit/>
          </a:bodyPr>
          <a:lstStyle/>
          <a:p>
            <a:pPr algn="ctr">
              <a:lnSpc>
                <a:spcPct val="100000"/>
              </a:lnSpc>
            </a:pPr>
            <a:r>
              <a:rPr sz="2400" b="1" i="0">
                <a:solidFill>
                  <a:srgbClr val="F7FAFC"/>
                </a:solidFill>
                <a:latin typeface="Aptos Display"/>
              </a:rPr>
              <a:t>CloudContextGuard</a:t>
            </a:r>
          </a:p>
        </p:txBody>
      </p:sp>
      <p:sp>
        <p:nvSpPr>
          <p:cNvPr id="14" name="TextBox 13"/>
          <p:cNvSpPr txBox="1"/>
          <p:nvPr/>
        </p:nvSpPr>
        <p:spPr>
          <a:xfrm>
            <a:off x="822960" y="4617720"/>
            <a:ext cx="10515600" cy="365760"/>
          </a:xfrm>
          <a:prstGeom prst="rect">
            <a:avLst/>
          </a:prstGeom>
          <a:noFill/>
        </p:spPr>
        <p:txBody>
          <a:bodyPr wrap="square" lIns="0" tIns="0" rIns="0" bIns="0" anchor="t">
            <a:spAutoFit/>
          </a:bodyPr>
          <a:lstStyle/>
          <a:p>
            <a:pPr algn="ctr">
              <a:lnSpc>
                <a:spcPct val="100000"/>
              </a:lnSpc>
            </a:pPr>
            <a:r>
              <a:rPr sz="1300" b="0" i="0">
                <a:solidFill>
                  <a:srgbClr val="A3B1C6"/>
                </a:solidFill>
                <a:latin typeface="Aptos"/>
              </a:rPr>
              <a:t>Context-Aware Cloud Access Control Using IAM and Trusted VPC Boundaries</a:t>
            </a:r>
          </a:p>
        </p:txBody>
      </p:sp>
      <p:sp>
        <p:nvSpPr>
          <p:cNvPr id="15" name="TextBox 14"/>
          <p:cNvSpPr txBox="1"/>
          <p:nvPr/>
        </p:nvSpPr>
        <p:spPr>
          <a:xfrm>
            <a:off x="822960" y="5257800"/>
            <a:ext cx="10515600" cy="365760"/>
          </a:xfrm>
          <a:prstGeom prst="rect">
            <a:avLst/>
          </a:prstGeom>
          <a:noFill/>
        </p:spPr>
        <p:txBody>
          <a:bodyPr wrap="square" lIns="0" tIns="0" rIns="0" bIns="0" anchor="t">
            <a:spAutoFit/>
          </a:bodyPr>
          <a:lstStyle/>
          <a:p>
            <a:pPr algn="ctr">
              <a:lnSpc>
                <a:spcPct val="100000"/>
              </a:lnSpc>
            </a:pPr>
            <a:r>
              <a:rPr sz="1250" b="0" i="0">
                <a:solidFill>
                  <a:srgbClr val="06B6D4"/>
                </a:solidFill>
                <a:latin typeface="Consolas"/>
              </a:rPr>
              <a:t>github.com/priyaansh21/CloudContextGuard</a:t>
            </a:r>
          </a:p>
        </p:txBody>
      </p:sp>
      <p:sp>
        <p:nvSpPr>
          <p:cNvPr id="16" name="TextBox 15"/>
          <p:cNvSpPr txBox="1"/>
          <p:nvPr/>
        </p:nvSpPr>
        <p:spPr>
          <a:xfrm>
            <a:off x="822960" y="6446520"/>
            <a:ext cx="10515600" cy="274320"/>
          </a:xfrm>
          <a:prstGeom prst="rect">
            <a:avLst/>
          </a:prstGeom>
          <a:noFill/>
        </p:spPr>
        <p:txBody>
          <a:bodyPr wrap="square" lIns="0" tIns="0" rIns="0" bIns="0" anchor="t">
            <a:spAutoFit/>
          </a:bodyPr>
          <a:lstStyle/>
          <a:p>
            <a:pPr algn="ctr">
              <a:lnSpc>
                <a:spcPct val="100000"/>
              </a:lnSpc>
              <a:spcAft>
                <a:spcPts val="200"/>
              </a:spcAft>
            </a:pPr>
            <a:r>
              <a:rPr sz="900" b="1" i="0">
                <a:solidFill>
                  <a:srgbClr val="64748B"/>
                </a:solidFill>
                <a:latin typeface="Aptos"/>
              </a:rPr>
              <a:t>CLOUDCONTEXTGUARD</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3511</Words>
  <Application>Microsoft Office PowerPoint</Application>
  <PresentationFormat>Widescreen</PresentationFormat>
  <Paragraphs>381</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priyaansh jaiswal</cp:lastModifiedBy>
  <cp:revision>2</cp:revision>
  <dcterms:created xsi:type="dcterms:W3CDTF">2013-01-27T09:14:16Z</dcterms:created>
  <dcterms:modified xsi:type="dcterms:W3CDTF">2026-09-24T00:16:28Z</dcterms:modified>
  <cp:category/>
</cp:coreProperties>
</file>